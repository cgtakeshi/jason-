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5" r:id="rId21"/>
    <p:sldId id="274" r:id="rId22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素材来源：</a:t>
            </a:r>
          </a:p>
          <a:p>
            <a:r>
              <a:t>- 作品集/冰川/悠星大陆/女刺客.png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素材来源：</a:t>
            </a:r>
          </a:p>
          <a:p>
            <a:r>
              <a:t>- 无外部素材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素材来源：</a:t>
            </a:r>
          </a:p>
          <a:p>
            <a:r>
              <a:t>- 无外部素材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素材来源：</a:t>
            </a:r>
          </a:p>
          <a:p>
            <a:r>
              <a:t>- 无外部素材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素材来源：</a:t>
            </a:r>
          </a:p>
          <a:p>
            <a:r>
              <a:t>- 作品集/奕兆/消消奇兵传/角色/泡泡公主设计优化（三视图+表情设计+材质渲染参考）0113.png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素材来源：</a:t>
            </a:r>
          </a:p>
          <a:p>
            <a:r>
              <a:t>- 作品集/.../yz_characters_set</a:t>
            </a:r>
          </a:p>
          <a:p>
            <a:r>
              <a:t>- 作品集/.../yz_scorpio_tv</a:t>
            </a:r>
          </a:p>
          <a:p>
            <a:r>
              <a:t>- 作品集/.../yz_main_ui</a:t>
            </a:r>
          </a:p>
          <a:p>
            <a:r>
              <a:t>- 作品集/.../yz_banner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素材来源：</a:t>
            </a:r>
          </a:p>
          <a:p>
            <a:r>
              <a:t>- 作品集/奕兆/消消奇兵传/UI/.../yz_pool</a:t>
            </a:r>
          </a:p>
          <a:p>
            <a:r>
              <a:t>- 作品集/奕兆/消消奇兵传/UI/.../yz_egg</a:t>
            </a:r>
          </a:p>
          <a:p>
            <a:r>
              <a:t>- 作品集/奕兆/消消奇兵传/UI/.../yz_snowball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素材来源：</a:t>
            </a:r>
          </a:p>
          <a:p>
            <a:r>
              <a:t>- 作品集/冰川/悠星大陆/悠星大陆：双月-战士设定.png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素材来源：</a:t>
            </a:r>
          </a:p>
          <a:p>
            <a:r>
              <a:t>- 作品集/.../bc_level_monster</a:t>
            </a:r>
          </a:p>
          <a:p>
            <a:r>
              <a:t>- 作品集/.../bc_wild_monster</a:t>
            </a:r>
          </a:p>
          <a:p>
            <a:r>
              <a:t>- 作品集/.../bc_elite</a:t>
            </a:r>
          </a:p>
          <a:p>
            <a:r>
              <a:t>- 作品集/.../bc_npc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素材来源：</a:t>
            </a:r>
          </a:p>
          <a:p>
            <a:r>
              <a:t>- 作品集/.../bc_body_base</a:t>
            </a:r>
          </a:p>
          <a:p>
            <a:r>
              <a:t>- 作品集/.../bc_body_universal</a:t>
            </a:r>
          </a:p>
          <a:p>
            <a:r>
              <a:t>- 作品集/.../bc_pipeline</a:t>
            </a:r>
          </a:p>
          <a:p>
            <a:r>
              <a:t>- 作品集/.../bc_quality1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素材来源：</a:t>
            </a:r>
          </a:p>
          <a:p>
            <a:r>
              <a:t>- 作品集/淘乐/桃花源记&amp;少年仙侠传/陶乐-立绘1.jpg</a:t>
            </a:r>
          </a:p>
          <a:p>
            <a:r>
              <a:t>- 作品集/淘乐/桃花源记&amp;少年仙侠传/淘乐-桃手-x丘比特.jpg</a:t>
            </a:r>
          </a:p>
          <a:p>
            <a:r>
              <a:t>- 作品集/淘乐/桃花源记&amp;少年仙侠传/淘乐-少年仙侠传-图标插图标杆绘制_new.jpg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素材来源：</a:t>
            </a:r>
          </a:p>
          <a:p>
            <a:r>
              <a:t>- 作品集/网易/大话西游手游/混天魔.png</a:t>
            </a:r>
          </a:p>
          <a:p>
            <a:r>
              <a:t>- 作品集/网易/决战平安京/般若.png</a:t>
            </a:r>
          </a:p>
          <a:p>
            <a:r>
              <a:t>- 作品集/网易/决战平安京/雪女.png</a:t>
            </a:r>
          </a:p>
          <a:p>
            <a:r>
              <a:t>- 作品集/网易/幻书启示录/网易-幻书启示录立绘设计_new.jpg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素材来源：</a:t>
            </a:r>
          </a:p>
          <a:p>
            <a:r>
              <a:t>- 无外部素材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素材来源：</a:t>
            </a:r>
          </a:p>
          <a:p>
            <a:r>
              <a:t>- 作品集/.../wy_yinjiao</a:t>
            </a:r>
          </a:p>
          <a:p>
            <a:r>
              <a:t>- 作品集/.../wy_fox</a:t>
            </a:r>
          </a:p>
          <a:p>
            <a:r>
              <a:t>- 作品集/.../wy_xingtian</a:t>
            </a:r>
          </a:p>
          <a:p>
            <a:r>
              <a:t>- 作品集/.../wy_scholar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素材来源：</a:t>
            </a:r>
          </a:p>
          <a:p>
            <a:r>
              <a:t>- 作品集/.../yz_bubble</a:t>
            </a:r>
          </a:p>
          <a:p>
            <a:r>
              <a:t>- 作品集/.../yz_moon</a:t>
            </a:r>
          </a:p>
          <a:p>
            <a:r>
              <a:t>- 作品集/.../yz_rosalia</a:t>
            </a:r>
          </a:p>
          <a:p>
            <a:r>
              <a:t>- 作品集/.../tl_stand2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素材来源：</a:t>
            </a:r>
          </a:p>
          <a:p>
            <a:r>
              <a:t>- 作品集/.../yz_bubble</a:t>
            </a:r>
          </a:p>
          <a:p>
            <a:r>
              <a:t>- 作品集/.../yz_moon</a:t>
            </a:r>
          </a:p>
          <a:p>
            <a:r>
              <a:t>- 作品集/.../yz_rosalia</a:t>
            </a:r>
          </a:p>
          <a:p>
            <a:r>
              <a:t>- 作品集/.../tl_stand2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素材来源：</a:t>
            </a:r>
          </a:p>
          <a:p>
            <a:r>
              <a:t>- 无外部素材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0" Type="http://schemas.openxmlformats.org/officeDocument/2006/relationships/notesSlide" Target="../notesSlides/notesSlide4.xml"/><Relationship Id="rId2" Type="http://schemas.openxmlformats.org/officeDocument/2006/relationships/tags" Target="../tags/tag2.xml"/><Relationship Id="rId19" Type="http://schemas.openxmlformats.org/officeDocument/2006/relationships/slideLayout" Target="../slideLayouts/slideLayout1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3.jpeg"/><Relationship Id="rId8" Type="http://schemas.openxmlformats.org/officeDocument/2006/relationships/tags" Target="../tags/tag26.xml"/><Relationship Id="rId7" Type="http://schemas.openxmlformats.org/officeDocument/2006/relationships/tags" Target="../tags/tag25.xml"/><Relationship Id="rId6" Type="http://schemas.openxmlformats.org/officeDocument/2006/relationships/tags" Target="../tags/tag24.xml"/><Relationship Id="rId5" Type="http://schemas.openxmlformats.org/officeDocument/2006/relationships/tags" Target="../tags/tag23.xml"/><Relationship Id="rId4" Type="http://schemas.openxmlformats.org/officeDocument/2006/relationships/tags" Target="../tags/tag22.xml"/><Relationship Id="rId3" Type="http://schemas.openxmlformats.org/officeDocument/2006/relationships/tags" Target="../tags/tag21.xml"/><Relationship Id="rId2" Type="http://schemas.openxmlformats.org/officeDocument/2006/relationships/tags" Target="../tags/tag20.xml"/><Relationship Id="rId11" Type="http://schemas.openxmlformats.org/officeDocument/2006/relationships/notesSlide" Target="../notesSlides/notesSlide6.xml"/><Relationship Id="rId10" Type="http://schemas.openxmlformats.org/officeDocument/2006/relationships/slideLayout" Target="../slideLayouts/slideLayout1.xml"/><Relationship Id="rId1" Type="http://schemas.openxmlformats.org/officeDocument/2006/relationships/tags" Target="../tags/tag19.xml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7.jpeg"/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image" Target="../media/image4.jpe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33.xml"/><Relationship Id="rId8" Type="http://schemas.openxmlformats.org/officeDocument/2006/relationships/tags" Target="../tags/tag32.xml"/><Relationship Id="rId7" Type="http://schemas.openxmlformats.org/officeDocument/2006/relationships/tags" Target="../tags/tag31.xml"/><Relationship Id="rId6" Type="http://schemas.openxmlformats.org/officeDocument/2006/relationships/image" Target="../media/image9.jpeg"/><Relationship Id="rId5" Type="http://schemas.openxmlformats.org/officeDocument/2006/relationships/tags" Target="../tags/tag30.xml"/><Relationship Id="rId4" Type="http://schemas.openxmlformats.org/officeDocument/2006/relationships/tags" Target="../tags/tag29.xml"/><Relationship Id="rId3" Type="http://schemas.openxmlformats.org/officeDocument/2006/relationships/tags" Target="../tags/tag28.xml"/><Relationship Id="rId2" Type="http://schemas.openxmlformats.org/officeDocument/2006/relationships/image" Target="../media/image8.jpeg"/><Relationship Id="rId14" Type="http://schemas.openxmlformats.org/officeDocument/2006/relationships/notesSlide" Target="../notesSlides/notesSlide8.xml"/><Relationship Id="rId13" Type="http://schemas.openxmlformats.org/officeDocument/2006/relationships/slideLayout" Target="../slideLayouts/slideLayout1.xml"/><Relationship Id="rId12" Type="http://schemas.openxmlformats.org/officeDocument/2006/relationships/tags" Target="../tags/tag35.xml"/><Relationship Id="rId11" Type="http://schemas.openxmlformats.org/officeDocument/2006/relationships/tags" Target="../tags/tag34.xml"/><Relationship Id="rId10" Type="http://schemas.openxmlformats.org/officeDocument/2006/relationships/image" Target="../media/image10.jpeg"/><Relationship Id="rId1" Type="http://schemas.openxmlformats.org/officeDocument/2006/relationships/tags" Target="../tags/tag27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.jpeg"/><Relationship Id="rId8" Type="http://schemas.openxmlformats.org/officeDocument/2006/relationships/tags" Target="../tags/tag43.xml"/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1" Type="http://schemas.openxmlformats.org/officeDocument/2006/relationships/notesSlide" Target="../notesSlides/notesSlide9.xml"/><Relationship Id="rId10" Type="http://schemas.openxmlformats.org/officeDocument/2006/relationships/slideLayout" Target="../slideLayouts/slideLayout1.xml"/><Relationship Id="rId1" Type="http://schemas.openxmlformats.org/officeDocument/2006/relationships/tags" Target="../tags/tag36.xml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0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5.jpeg"/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image" Target="../media/image12.jpe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50.xml"/><Relationship Id="rId8" Type="http://schemas.openxmlformats.org/officeDocument/2006/relationships/tags" Target="../tags/tag49.xml"/><Relationship Id="rId7" Type="http://schemas.openxmlformats.org/officeDocument/2006/relationships/tags" Target="../tags/tag48.xml"/><Relationship Id="rId6" Type="http://schemas.openxmlformats.org/officeDocument/2006/relationships/image" Target="../media/image17.jpeg"/><Relationship Id="rId5" Type="http://schemas.openxmlformats.org/officeDocument/2006/relationships/tags" Target="../tags/tag47.xml"/><Relationship Id="rId4" Type="http://schemas.openxmlformats.org/officeDocument/2006/relationships/tags" Target="../tags/tag46.xml"/><Relationship Id="rId3" Type="http://schemas.openxmlformats.org/officeDocument/2006/relationships/tags" Target="../tags/tag45.xml"/><Relationship Id="rId2" Type="http://schemas.openxmlformats.org/officeDocument/2006/relationships/image" Target="../media/image16.jpeg"/><Relationship Id="rId18" Type="http://schemas.openxmlformats.org/officeDocument/2006/relationships/notesSlide" Target="../notesSlides/notesSlide11.xml"/><Relationship Id="rId17" Type="http://schemas.openxmlformats.org/officeDocument/2006/relationships/slideLayout" Target="../slideLayouts/slideLayout1.xml"/><Relationship Id="rId16" Type="http://schemas.openxmlformats.org/officeDocument/2006/relationships/tags" Target="../tags/tag55.xml"/><Relationship Id="rId15" Type="http://schemas.openxmlformats.org/officeDocument/2006/relationships/tags" Target="../tags/tag54.xml"/><Relationship Id="rId14" Type="http://schemas.openxmlformats.org/officeDocument/2006/relationships/image" Target="../media/image19.jpeg"/><Relationship Id="rId13" Type="http://schemas.openxmlformats.org/officeDocument/2006/relationships/tags" Target="../tags/tag53.xml"/><Relationship Id="rId12" Type="http://schemas.openxmlformats.org/officeDocument/2006/relationships/tags" Target="../tags/tag52.xml"/><Relationship Id="rId11" Type="http://schemas.openxmlformats.org/officeDocument/2006/relationships/tags" Target="../tags/tag51.xml"/><Relationship Id="rId10" Type="http://schemas.openxmlformats.org/officeDocument/2006/relationships/image" Target="../media/image18.jpeg"/><Relationship Id="rId1" Type="http://schemas.openxmlformats.org/officeDocument/2006/relationships/tags" Target="../tags/tag44.xml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2.jpeg"/><Relationship Id="rId2" Type="http://schemas.openxmlformats.org/officeDocument/2006/relationships/image" Target="../media/image21.jpeg"/><Relationship Id="rId1" Type="http://schemas.openxmlformats.org/officeDocument/2006/relationships/image" Target="../media/image20.jpeg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3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6.jpeg"/><Relationship Id="rId3" Type="http://schemas.openxmlformats.org/officeDocument/2006/relationships/image" Target="../media/image25.jpeg"/><Relationship Id="rId2" Type="http://schemas.openxmlformats.org/officeDocument/2006/relationships/image" Target="../media/image24.jpeg"/><Relationship Id="rId1" Type="http://schemas.openxmlformats.org/officeDocument/2006/relationships/image" Target="../media/image23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7.jpeg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tags" Target="../tags/tag62.xml"/><Relationship Id="rId8" Type="http://schemas.openxmlformats.org/officeDocument/2006/relationships/tags" Target="../tags/tag61.xml"/><Relationship Id="rId7" Type="http://schemas.openxmlformats.org/officeDocument/2006/relationships/tags" Target="../tags/tag60.xml"/><Relationship Id="rId6" Type="http://schemas.openxmlformats.org/officeDocument/2006/relationships/image" Target="../media/image29.jpeg"/><Relationship Id="rId5" Type="http://schemas.openxmlformats.org/officeDocument/2006/relationships/tags" Target="../tags/tag59.xml"/><Relationship Id="rId4" Type="http://schemas.openxmlformats.org/officeDocument/2006/relationships/tags" Target="../tags/tag58.xml"/><Relationship Id="rId3" Type="http://schemas.openxmlformats.org/officeDocument/2006/relationships/tags" Target="../tags/tag57.xml"/><Relationship Id="rId2" Type="http://schemas.openxmlformats.org/officeDocument/2006/relationships/image" Target="../media/image28.jpeg"/><Relationship Id="rId18" Type="http://schemas.openxmlformats.org/officeDocument/2006/relationships/notesSlide" Target="../notesSlides/notesSlide16.xml"/><Relationship Id="rId17" Type="http://schemas.openxmlformats.org/officeDocument/2006/relationships/slideLayout" Target="../slideLayouts/slideLayout1.xml"/><Relationship Id="rId16" Type="http://schemas.openxmlformats.org/officeDocument/2006/relationships/tags" Target="../tags/tag67.xml"/><Relationship Id="rId15" Type="http://schemas.openxmlformats.org/officeDocument/2006/relationships/tags" Target="../tags/tag66.xml"/><Relationship Id="rId14" Type="http://schemas.openxmlformats.org/officeDocument/2006/relationships/image" Target="../media/image31.jpeg"/><Relationship Id="rId13" Type="http://schemas.openxmlformats.org/officeDocument/2006/relationships/tags" Target="../tags/tag65.xml"/><Relationship Id="rId12" Type="http://schemas.openxmlformats.org/officeDocument/2006/relationships/tags" Target="../tags/tag64.xml"/><Relationship Id="rId11" Type="http://schemas.openxmlformats.org/officeDocument/2006/relationships/tags" Target="../tags/tag63.xml"/><Relationship Id="rId10" Type="http://schemas.openxmlformats.org/officeDocument/2006/relationships/image" Target="../media/image30.jpeg"/><Relationship Id="rId1" Type="http://schemas.openxmlformats.org/officeDocument/2006/relationships/tags" Target="../tags/tag56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tags" Target="../tags/tag74.xml"/><Relationship Id="rId8" Type="http://schemas.openxmlformats.org/officeDocument/2006/relationships/tags" Target="../tags/tag73.xml"/><Relationship Id="rId7" Type="http://schemas.openxmlformats.org/officeDocument/2006/relationships/tags" Target="../tags/tag72.xml"/><Relationship Id="rId6" Type="http://schemas.openxmlformats.org/officeDocument/2006/relationships/image" Target="../media/image33.jpeg"/><Relationship Id="rId5" Type="http://schemas.openxmlformats.org/officeDocument/2006/relationships/tags" Target="../tags/tag71.xml"/><Relationship Id="rId4" Type="http://schemas.openxmlformats.org/officeDocument/2006/relationships/tags" Target="../tags/tag70.xml"/><Relationship Id="rId3" Type="http://schemas.openxmlformats.org/officeDocument/2006/relationships/tags" Target="../tags/tag69.xml"/><Relationship Id="rId2" Type="http://schemas.openxmlformats.org/officeDocument/2006/relationships/image" Target="../media/image32.jpeg"/><Relationship Id="rId18" Type="http://schemas.openxmlformats.org/officeDocument/2006/relationships/notesSlide" Target="../notesSlides/notesSlide17.xml"/><Relationship Id="rId17" Type="http://schemas.openxmlformats.org/officeDocument/2006/relationships/slideLayout" Target="../slideLayouts/slideLayout1.xml"/><Relationship Id="rId16" Type="http://schemas.openxmlformats.org/officeDocument/2006/relationships/tags" Target="../tags/tag79.xml"/><Relationship Id="rId15" Type="http://schemas.openxmlformats.org/officeDocument/2006/relationships/tags" Target="../tags/tag78.xml"/><Relationship Id="rId14" Type="http://schemas.openxmlformats.org/officeDocument/2006/relationships/image" Target="../media/image35.jpeg"/><Relationship Id="rId13" Type="http://schemas.openxmlformats.org/officeDocument/2006/relationships/tags" Target="../tags/tag77.xml"/><Relationship Id="rId12" Type="http://schemas.openxmlformats.org/officeDocument/2006/relationships/tags" Target="../tags/tag76.xml"/><Relationship Id="rId11" Type="http://schemas.openxmlformats.org/officeDocument/2006/relationships/tags" Target="../tags/tag75.xml"/><Relationship Id="rId10" Type="http://schemas.openxmlformats.org/officeDocument/2006/relationships/image" Target="../media/image34.jpeg"/><Relationship Id="rId1" Type="http://schemas.openxmlformats.org/officeDocument/2006/relationships/tags" Target="../tags/tag68.xml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tags" Target="../tags/tag86.xml"/><Relationship Id="rId8" Type="http://schemas.openxmlformats.org/officeDocument/2006/relationships/tags" Target="../tags/tag85.xml"/><Relationship Id="rId7" Type="http://schemas.openxmlformats.org/officeDocument/2006/relationships/tags" Target="../tags/tag84.xml"/><Relationship Id="rId6" Type="http://schemas.openxmlformats.org/officeDocument/2006/relationships/image" Target="../media/image33.jpeg"/><Relationship Id="rId5" Type="http://schemas.openxmlformats.org/officeDocument/2006/relationships/tags" Target="../tags/tag83.xml"/><Relationship Id="rId4" Type="http://schemas.openxmlformats.org/officeDocument/2006/relationships/tags" Target="../tags/tag82.xml"/><Relationship Id="rId3" Type="http://schemas.openxmlformats.org/officeDocument/2006/relationships/tags" Target="../tags/tag81.xml"/><Relationship Id="rId2" Type="http://schemas.openxmlformats.org/officeDocument/2006/relationships/image" Target="../media/image32.jpeg"/><Relationship Id="rId18" Type="http://schemas.openxmlformats.org/officeDocument/2006/relationships/notesSlide" Target="../notesSlides/notesSlide18.xml"/><Relationship Id="rId17" Type="http://schemas.openxmlformats.org/officeDocument/2006/relationships/slideLayout" Target="../slideLayouts/slideLayout1.xml"/><Relationship Id="rId16" Type="http://schemas.openxmlformats.org/officeDocument/2006/relationships/tags" Target="../tags/tag91.xml"/><Relationship Id="rId15" Type="http://schemas.openxmlformats.org/officeDocument/2006/relationships/tags" Target="../tags/tag90.xml"/><Relationship Id="rId14" Type="http://schemas.openxmlformats.org/officeDocument/2006/relationships/image" Target="../media/image35.jpeg"/><Relationship Id="rId13" Type="http://schemas.openxmlformats.org/officeDocument/2006/relationships/tags" Target="../tags/tag89.xml"/><Relationship Id="rId12" Type="http://schemas.openxmlformats.org/officeDocument/2006/relationships/tags" Target="../tags/tag88.xml"/><Relationship Id="rId11" Type="http://schemas.openxmlformats.org/officeDocument/2006/relationships/tags" Target="../tags/tag87.xml"/><Relationship Id="rId10" Type="http://schemas.openxmlformats.org/officeDocument/2006/relationships/image" Target="../media/image34.jpeg"/><Relationship Id="rId1" Type="http://schemas.openxmlformats.org/officeDocument/2006/relationships/tags" Target="../tags/tag80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rcRect l="8852" r="885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solidFill>
              <a:srgbClr val="2E3540"/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7620000" cy="6858000"/>
          </a:xfrm>
          <a:prstGeom prst="rect">
            <a:avLst/>
          </a:prstGeom>
          <a:gradFill>
            <a:gsLst>
              <a:gs pos="0">
                <a:srgbClr val="0C0F14">
                  <a:alpha val="90980"/>
                </a:srgbClr>
              </a:gs>
              <a:gs pos="55000">
                <a:srgbClr val="0C0F14">
                  <a:alpha val="65098"/>
                </a:srgbClr>
              </a:gs>
              <a:gs pos="100000">
                <a:srgbClr val="0C0F14">
                  <a:alpha val="0"/>
                </a:srgbClr>
              </a:gs>
            </a:gsLst>
            <a:lin ang="5400000"/>
          </a:gradFill>
          <a:ln w="9525">
            <a:noFill/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0" y="4476750"/>
            <a:ext cx="12192000" cy="2381250"/>
          </a:xfrm>
          <a:prstGeom prst="rect">
            <a:avLst/>
          </a:prstGeom>
          <a:gradFill>
            <a:gsLst>
              <a:gs pos="0">
                <a:srgbClr val="0C0F14">
                  <a:alpha val="87843"/>
                </a:srgbClr>
              </a:gs>
              <a:gs pos="100000">
                <a:srgbClr val="0C0F14">
                  <a:alpha val="0"/>
                </a:srgbClr>
              </a:gs>
            </a:gsLst>
            <a:lin ang="0"/>
          </a:gradFill>
          <a:ln w="9525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685800" y="1428750"/>
            <a:ext cx="5334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l">
              <a:lnSpc>
                <a:spcPct val="135000"/>
              </a:lnSpc>
              <a:buNone/>
              <a:defRPr sz="1350" b="1">
                <a:solidFill>
                  <a:srgbClr val="E8B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E8B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GAME ART DIRECTOR · PORTFOLIO</a:t>
            </a:r>
            <a:endParaRPr sz="1350" b="1">
              <a:solidFill>
                <a:srgbClr val="E8B04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85800" y="1847850"/>
            <a:ext cx="609600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l">
              <a:lnSpc>
                <a:spcPct val="135000"/>
              </a:lnSpc>
              <a:buNone/>
              <a:defRPr sz="6300" b="1">
                <a:solidFill>
                  <a:srgbClr val="F4F1E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300" b="1">
                <a:solidFill>
                  <a:srgbClr val="F4F1E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张斌</a:t>
            </a:r>
            <a:endParaRPr sz="6300" b="1">
              <a:solidFill>
                <a:srgbClr val="F4F1E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85800" y="3238500"/>
            <a:ext cx="6477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l">
              <a:lnSpc>
                <a:spcPct val="135000"/>
              </a:lnSpc>
              <a:buNone/>
              <a:defRPr sz="2250" b="1">
                <a:solidFill>
                  <a:srgbClr val="F7F3E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F7F3E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游戏美术总监 · 15 年角色美术与管理经验</a:t>
            </a:r>
            <a:endParaRPr sz="2250" b="1">
              <a:solidFill>
                <a:srgbClr val="F7F3E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85800" y="3848100"/>
            <a:ext cx="647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l">
              <a:lnSpc>
                <a:spcPct val="135000"/>
              </a:lnSpc>
              <a:buNone/>
              <a:defRPr sz="1500">
                <a:solidFill>
                  <a:srgbClr val="C6C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>
                <a:solidFill>
                  <a:srgbClr val="C6C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深圳 ｜ 18600805208 ｜ 860404@qq.com</a:t>
            </a:r>
            <a:endParaRPr sz="1500">
              <a:solidFill>
                <a:srgbClr val="C6CCD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85800" y="6115050"/>
            <a:ext cx="647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l">
              <a:lnSpc>
                <a:spcPct val="135000"/>
              </a:lnSpc>
              <a:buNone/>
              <a:defRPr sz="1350">
                <a:solidFill>
                  <a:srgbClr val="8E97A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>
                <a:solidFill>
                  <a:srgbClr val="8E97A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角色原画 / 美术管理 / 产品落地</a:t>
            </a:r>
            <a:endParaRPr sz="1350">
              <a:solidFill>
                <a:srgbClr val="8E97A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3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" name="矩形 19"/>
          <p:cNvSpPr>
            <a:spLocks noGrp="1"/>
          </p:cNvSpPr>
          <p:nvPr/>
        </p:nvSpPr>
        <p:spPr>
          <a:xfrm>
            <a:off x="609600" y="438150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l">
              <a:lnSpc>
                <a:spcPct val="135000"/>
              </a:lnSpc>
              <a:buNone/>
              <a:defRPr sz="1350" b="1">
                <a:solidFill>
                  <a:srgbClr val="E8B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E8B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PROFILE</a:t>
            </a:r>
            <a:endParaRPr sz="1350" b="1">
              <a:solidFill>
                <a:srgbClr val="E8B04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09600" y="742950"/>
            <a:ext cx="109728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l">
              <a:lnSpc>
                <a:spcPct val="135000"/>
              </a:lnSpc>
              <a:buNone/>
              <a:defRPr sz="2700" b="1">
                <a:solidFill>
                  <a:srgbClr val="F4F1E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1">
                <a:solidFill>
                  <a:srgbClr val="F4F1E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从资深原画到美术总监，让美术为产品服务</a:t>
            </a:r>
            <a:endParaRPr sz="2700" b="1">
              <a:solidFill>
                <a:srgbClr val="F4F1E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圆角矩形 2"/>
          <p:cNvSpPr>
            <a:spLocks noGrp="1"/>
          </p:cNvSpPr>
          <p:nvPr/>
        </p:nvSpPr>
        <p:spPr>
          <a:xfrm>
            <a:off x="609600" y="1428750"/>
            <a:ext cx="10972800" cy="9525"/>
          </a:xfrm>
          <a:prstGeom prst="roundRect">
            <a:avLst>
              <a:gd name="adj" fmla="val 50000"/>
            </a:avLst>
          </a:prstGeom>
          <a:solidFill>
            <a:srgbClr val="232A33"/>
          </a:solidFill>
          <a:ln w="9525">
            <a:noFill/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6438900"/>
            <a:ext cx="4572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l">
              <a:lnSpc>
                <a:spcPct val="135000"/>
              </a:lnSpc>
              <a:buNone/>
              <a:defRPr sz="1050">
                <a:solidFill>
                  <a:srgbClr val="6E76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>
                <a:solidFill>
                  <a:srgbClr val="6E76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张斌 · 游戏美术总监</a:t>
            </a:r>
            <a:endParaRPr sz="1050">
              <a:solidFill>
                <a:srgbClr val="6E768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1201400" y="6438900"/>
            <a:ext cx="4572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5000"/>
              </a:lnSpc>
              <a:buNone/>
              <a:defRPr sz="1050">
                <a:solidFill>
                  <a:srgbClr val="6E76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>
                <a:solidFill>
                  <a:srgbClr val="6E76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1050">
              <a:solidFill>
                <a:srgbClr val="6E768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09600" y="1771650"/>
            <a:ext cx="6096000" cy="3143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l">
              <a:lnSpc>
                <a:spcPct val="155000"/>
              </a:lnSpc>
              <a:buNone/>
              <a:defRPr sz="1575">
                <a:solidFill>
                  <a:srgbClr val="D8DCE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>
                <a:solidFill>
                  <a:srgbClr val="D8DCE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15 年以上角色设计与团队管理经验，经历覆盖 MMO、大世界、</a:t>
            </a:r>
            <a:r>
              <a:rPr lang="en-US" sz="1575">
                <a:solidFill>
                  <a:srgbClr val="D8DCE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RPG</a:t>
            </a:r>
            <a:r>
              <a:rPr lang="zh-CN" altLang="en-US" sz="1575">
                <a:solidFill>
                  <a:srgbClr val="D8DCE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等多类型产品，擅长卡通风格化设计</a:t>
            </a:r>
            <a:r>
              <a:rPr sz="1575">
                <a:solidFill>
                  <a:srgbClr val="D8DCE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</a:t>
            </a:r>
            <a:r>
              <a:rPr lang="zh-CN" sz="1575">
                <a:solidFill>
                  <a:srgbClr val="D8DCE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</a:t>
            </a:r>
            <a:r>
              <a:rPr sz="1575">
                <a:solidFill>
                  <a:srgbClr val="D8DCE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款 0-1 项目从风格孵化到上线落地的完整</a:t>
            </a:r>
            <a:r>
              <a:rPr lang="zh-CN" sz="1575">
                <a:solidFill>
                  <a:srgbClr val="D8DCE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开发</a:t>
            </a:r>
            <a:r>
              <a:rPr sz="1575">
                <a:solidFill>
                  <a:srgbClr val="D8DCE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过程。</a:t>
            </a:r>
            <a:endParaRPr sz="1575">
              <a:solidFill>
                <a:srgbClr val="D8DCE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575"/>
          </a:p>
          <a:p>
            <a:pPr algn="l">
              <a:lnSpc>
                <a:spcPct val="155000"/>
              </a:lnSpc>
              <a:buNone/>
              <a:defRPr sz="1575">
                <a:solidFill>
                  <a:srgbClr val="D8DCE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>
                <a:solidFill>
                  <a:srgbClr val="D8DCE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熟悉 PBR、卡通渲染、3渲2 与 3D 制作流程，能在设计品质、生产效率与产品目标之间取得平衡。</a:t>
            </a:r>
            <a:endParaRPr sz="1575">
              <a:solidFill>
                <a:srgbClr val="D8DCE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7086600" y="1771650"/>
            <a:ext cx="2133600" cy="1257300"/>
          </a:xfrm>
          <a:prstGeom prst="roundRect">
            <a:avLst>
              <a:gd name="adj" fmla="val 6061"/>
            </a:avLst>
          </a:prstGeom>
          <a:solidFill>
            <a:srgbClr val="171C22"/>
          </a:solidFill>
          <a:ln w="9525">
            <a:solidFill>
              <a:srgbClr val="2A3038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7086600" y="1981200"/>
            <a:ext cx="21336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ctr">
              <a:lnSpc>
                <a:spcPct val="135000"/>
              </a:lnSpc>
              <a:buNone/>
              <a:defRPr sz="2550" b="1">
                <a:solidFill>
                  <a:srgbClr val="E8B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E8B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15+</a:t>
            </a:r>
            <a:endParaRPr sz="2550" b="1">
              <a:solidFill>
                <a:srgbClr val="E8B04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7086600" y="2552700"/>
            <a:ext cx="2133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ctr">
              <a:lnSpc>
                <a:spcPct val="135000"/>
              </a:lnSpc>
              <a:buNone/>
              <a:defRPr sz="1200">
                <a:solidFill>
                  <a:srgbClr val="A7AF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>
                <a:solidFill>
                  <a:srgbClr val="A7AF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年行业经验</a:t>
            </a:r>
            <a:endParaRPr sz="1200">
              <a:solidFill>
                <a:srgbClr val="A7AF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9372600" y="1771650"/>
            <a:ext cx="2133600" cy="1257300"/>
          </a:xfrm>
          <a:prstGeom prst="roundRect">
            <a:avLst>
              <a:gd name="adj" fmla="val 6061"/>
            </a:avLst>
          </a:prstGeom>
          <a:solidFill>
            <a:srgbClr val="171C22"/>
          </a:solidFill>
          <a:ln w="9525">
            <a:solidFill>
              <a:srgbClr val="2A3038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9372600" y="1981200"/>
            <a:ext cx="21336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ctr">
              <a:lnSpc>
                <a:spcPct val="135000"/>
              </a:lnSpc>
              <a:buNone/>
              <a:defRPr sz="2550" b="1">
                <a:solidFill>
                  <a:srgbClr val="E8B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E8B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</a:t>
            </a:r>
            <a:endParaRPr sz="2550" b="1">
              <a:solidFill>
                <a:srgbClr val="E8B04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9372600" y="2552700"/>
            <a:ext cx="2133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ctr">
              <a:lnSpc>
                <a:spcPct val="135000"/>
              </a:lnSpc>
              <a:buNone/>
              <a:defRPr sz="1200">
                <a:solidFill>
                  <a:srgbClr val="A7AF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>
                <a:solidFill>
                  <a:srgbClr val="A7AF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段职业经历</a:t>
            </a:r>
            <a:endParaRPr sz="1200">
              <a:solidFill>
                <a:srgbClr val="A7AF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7086600" y="3276600"/>
            <a:ext cx="2133600" cy="1257300"/>
          </a:xfrm>
          <a:prstGeom prst="roundRect">
            <a:avLst>
              <a:gd name="adj" fmla="val 6061"/>
            </a:avLst>
          </a:prstGeom>
          <a:solidFill>
            <a:srgbClr val="171C22"/>
          </a:solidFill>
          <a:ln w="9525">
            <a:solidFill>
              <a:srgbClr val="2A3038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7086600" y="3486150"/>
            <a:ext cx="21336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ctr">
              <a:lnSpc>
                <a:spcPct val="135000"/>
              </a:lnSpc>
              <a:buNone/>
              <a:defRPr sz="2550" b="1">
                <a:solidFill>
                  <a:srgbClr val="E8B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E8B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10+</a:t>
            </a:r>
            <a:endParaRPr sz="2550" b="1">
              <a:solidFill>
                <a:srgbClr val="E8B04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7086600" y="4057650"/>
            <a:ext cx="2133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ctr">
              <a:lnSpc>
                <a:spcPct val="135000"/>
              </a:lnSpc>
              <a:buNone/>
              <a:defRPr sz="1200">
                <a:solidFill>
                  <a:srgbClr val="A7AF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>
                <a:solidFill>
                  <a:srgbClr val="A7AF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参与项目</a:t>
            </a:r>
            <a:endParaRPr sz="1200">
              <a:solidFill>
                <a:srgbClr val="A7AF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9372600" y="3276600"/>
            <a:ext cx="2133600" cy="1257300"/>
          </a:xfrm>
          <a:prstGeom prst="roundRect">
            <a:avLst>
              <a:gd name="adj" fmla="val 6061"/>
            </a:avLst>
          </a:prstGeom>
          <a:solidFill>
            <a:srgbClr val="171C22"/>
          </a:solidFill>
          <a:ln w="9525">
            <a:solidFill>
              <a:srgbClr val="2A3038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9372600" y="3486150"/>
            <a:ext cx="21336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ctr">
              <a:lnSpc>
                <a:spcPct val="135000"/>
              </a:lnSpc>
              <a:buNone/>
              <a:defRPr sz="2550" b="1">
                <a:solidFill>
                  <a:srgbClr val="E8B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E8B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多款</a:t>
            </a:r>
            <a:endParaRPr sz="2550" b="1">
              <a:solidFill>
                <a:srgbClr val="E8B04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9372600" y="4057650"/>
            <a:ext cx="2133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ctr">
              <a:lnSpc>
                <a:spcPct val="135000"/>
              </a:lnSpc>
              <a:buNone/>
              <a:defRPr sz="1200">
                <a:solidFill>
                  <a:srgbClr val="A7AF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>
                <a:solidFill>
                  <a:srgbClr val="A7AF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0-1 完整开发</a:t>
            </a:r>
            <a:endParaRPr sz="1200">
              <a:solidFill>
                <a:srgbClr val="A7AF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609600" y="5391150"/>
            <a:ext cx="10668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l">
              <a:lnSpc>
                <a:spcPct val="135000"/>
              </a:lnSpc>
              <a:buNone/>
              <a:defRPr sz="1275">
                <a:solidFill>
                  <a:srgbClr val="8E97A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>
                <a:solidFill>
                  <a:srgbClr val="8E97A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美术总监 ｜ 主美 ｜ 角色主管 ｜ 资深角色原画 ｜ 产品意识 ｜ 品质一致性</a:t>
            </a:r>
            <a:r>
              <a:rPr>
                <a:sym typeface="+mn-ea"/>
              </a:rPr>
              <a:t> ｜ </a:t>
            </a:r>
            <a:r>
              <a:rPr lang="en-US">
                <a:sym typeface="+mn-ea"/>
              </a:rPr>
              <a:t>AIGC</a:t>
            </a:r>
            <a:endParaRPr sz="1275">
              <a:solidFill>
                <a:srgbClr val="8E97A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3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2" name="矩形 41"/>
          <p:cNvSpPr>
            <a:spLocks noGrp="1"/>
          </p:cNvSpPr>
          <p:nvPr/>
        </p:nvSpPr>
        <p:spPr>
          <a:xfrm>
            <a:off x="609600" y="438150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l">
              <a:lnSpc>
                <a:spcPct val="135000"/>
              </a:lnSpc>
              <a:buNone/>
              <a:defRPr sz="1350" b="1">
                <a:solidFill>
                  <a:srgbClr val="E8B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E8B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CORE STRENGTHS</a:t>
            </a:r>
            <a:endParaRPr sz="1350" b="1">
              <a:solidFill>
                <a:srgbClr val="E8B04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09600" y="742950"/>
            <a:ext cx="109728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l">
              <a:lnSpc>
                <a:spcPct val="135000"/>
              </a:lnSpc>
              <a:buNone/>
              <a:defRPr sz="2700" b="1">
                <a:solidFill>
                  <a:srgbClr val="F4F1E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1">
                <a:solidFill>
                  <a:srgbClr val="F4F1E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三项核心能力：管理、产品与设计</a:t>
            </a:r>
            <a:endParaRPr sz="2700" b="1">
              <a:solidFill>
                <a:srgbClr val="F4F1E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圆角矩形 2"/>
          <p:cNvSpPr>
            <a:spLocks noGrp="1"/>
          </p:cNvSpPr>
          <p:nvPr/>
        </p:nvSpPr>
        <p:spPr>
          <a:xfrm>
            <a:off x="609600" y="1428750"/>
            <a:ext cx="10972800" cy="9525"/>
          </a:xfrm>
          <a:prstGeom prst="roundRect">
            <a:avLst>
              <a:gd name="adj" fmla="val 50000"/>
            </a:avLst>
          </a:prstGeom>
          <a:solidFill>
            <a:srgbClr val="232A33"/>
          </a:solidFill>
          <a:ln w="9525">
            <a:noFill/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6438900"/>
            <a:ext cx="4572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l">
              <a:lnSpc>
                <a:spcPct val="135000"/>
              </a:lnSpc>
              <a:buNone/>
              <a:defRPr sz="1050">
                <a:solidFill>
                  <a:srgbClr val="6E76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>
                <a:solidFill>
                  <a:srgbClr val="6E76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张斌 · 游戏美术总监</a:t>
            </a:r>
            <a:endParaRPr sz="1050">
              <a:solidFill>
                <a:srgbClr val="6E768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1201400" y="6438900"/>
            <a:ext cx="4572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5000"/>
              </a:lnSpc>
              <a:buNone/>
              <a:defRPr sz="1050">
                <a:solidFill>
                  <a:srgbClr val="6E76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>
                <a:solidFill>
                  <a:srgbClr val="6E76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1050">
              <a:solidFill>
                <a:srgbClr val="6E768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609600" y="1695450"/>
            <a:ext cx="3657600" cy="4095750"/>
          </a:xfrm>
          <a:prstGeom prst="roundRect">
            <a:avLst>
              <a:gd name="adj" fmla="val 2083"/>
            </a:avLst>
          </a:prstGeom>
          <a:solidFill>
            <a:srgbClr val="171C22"/>
          </a:solidFill>
          <a:ln w="9525">
            <a:solidFill>
              <a:srgbClr val="2A3038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876300" y="1962150"/>
            <a:ext cx="2095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l">
              <a:lnSpc>
                <a:spcPct val="135000"/>
              </a:lnSpc>
              <a:buNone/>
              <a:defRPr sz="2025" b="1">
                <a:solidFill>
                  <a:srgbClr val="E8B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E8B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美术管理</a:t>
            </a:r>
            <a:endParaRPr sz="2025" b="1">
              <a:solidFill>
                <a:srgbClr val="E8B04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76300" y="2381250"/>
            <a:ext cx="2095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l">
              <a:lnSpc>
                <a:spcPct val="135000"/>
              </a:lnSpc>
              <a:buNone/>
              <a:defRPr sz="1350">
                <a:solidFill>
                  <a:srgbClr val="C6C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>
                <a:solidFill>
                  <a:srgbClr val="C6C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从标准到落地</a:t>
            </a:r>
            <a:endParaRPr sz="1350">
              <a:solidFill>
                <a:srgbClr val="C6CCD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876300" y="2819400"/>
            <a:ext cx="533400" cy="28575"/>
          </a:xfrm>
          <a:prstGeom prst="roundRect">
            <a:avLst>
              <a:gd name="adj" fmla="val 33333"/>
            </a:avLst>
          </a:prstGeom>
          <a:solidFill>
            <a:srgbClr val="E8B04B"/>
          </a:solidFill>
          <a:ln w="9525">
            <a:noFill/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1143000" y="3143250"/>
            <a:ext cx="209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ctr">
              <a:lnSpc>
                <a:spcPct val="135000"/>
              </a:lnSpc>
              <a:buNone/>
              <a:defRPr sz="975" b="1">
                <a:solidFill>
                  <a:srgbClr val="E8B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E8B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◆</a:t>
            </a:r>
            <a:endParaRPr sz="975" b="1">
              <a:solidFill>
                <a:srgbClr val="E8B04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1428750" y="3143250"/>
            <a:ext cx="2571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l">
              <a:lnSpc>
                <a:spcPct val="130000"/>
              </a:lnSpc>
              <a:buNone/>
              <a:defRPr sz="1425">
                <a:solidFill>
                  <a:srgbClr val="D8DCE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>
                <a:solidFill>
                  <a:srgbClr val="D8DCE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SOP 与生产流程制定</a:t>
            </a:r>
            <a:endParaRPr sz="1425">
              <a:solidFill>
                <a:srgbClr val="D8DCE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1143000" y="3619500"/>
            <a:ext cx="209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ctr">
              <a:lnSpc>
                <a:spcPct val="135000"/>
              </a:lnSpc>
              <a:buNone/>
              <a:defRPr sz="975" b="1">
                <a:solidFill>
                  <a:srgbClr val="E8B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E8B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◆</a:t>
            </a:r>
            <a:endParaRPr sz="975" b="1">
              <a:solidFill>
                <a:srgbClr val="E8B04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428750" y="3619500"/>
            <a:ext cx="2571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l">
              <a:lnSpc>
                <a:spcPct val="130000"/>
              </a:lnSpc>
              <a:buNone/>
              <a:defRPr sz="1425">
                <a:solidFill>
                  <a:srgbClr val="D8DCE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>
                <a:solidFill>
                  <a:srgbClr val="D8DCE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角色管线与规范建设</a:t>
            </a:r>
            <a:endParaRPr sz="1425">
              <a:solidFill>
                <a:srgbClr val="D8DCE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1143000" y="4095750"/>
            <a:ext cx="209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ctr">
              <a:lnSpc>
                <a:spcPct val="135000"/>
              </a:lnSpc>
              <a:buNone/>
              <a:defRPr sz="975" b="1">
                <a:solidFill>
                  <a:srgbClr val="E8B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E8B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◆</a:t>
            </a:r>
            <a:endParaRPr sz="975" b="1">
              <a:solidFill>
                <a:srgbClr val="E8B04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428750" y="4095750"/>
            <a:ext cx="2571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l">
              <a:lnSpc>
                <a:spcPct val="130000"/>
              </a:lnSpc>
              <a:buNone/>
              <a:defRPr sz="1425">
                <a:solidFill>
                  <a:srgbClr val="D8DCE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>
                <a:solidFill>
                  <a:srgbClr val="D8DCE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团队组织与晋升体系</a:t>
            </a:r>
            <a:endParaRPr sz="1425">
              <a:solidFill>
                <a:srgbClr val="D8DCE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143000" y="4572000"/>
            <a:ext cx="209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ctr">
              <a:lnSpc>
                <a:spcPct val="135000"/>
              </a:lnSpc>
              <a:buNone/>
              <a:defRPr sz="975" b="1">
                <a:solidFill>
                  <a:srgbClr val="E8B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E8B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◆</a:t>
            </a:r>
            <a:endParaRPr sz="975" b="1">
              <a:solidFill>
                <a:srgbClr val="E8B04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1428750" y="4572000"/>
            <a:ext cx="2571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l">
              <a:lnSpc>
                <a:spcPct val="130000"/>
              </a:lnSpc>
              <a:buNone/>
              <a:defRPr sz="1425">
                <a:solidFill>
                  <a:srgbClr val="D8DCE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>
                <a:solidFill>
                  <a:srgbClr val="D8DCE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最终美术品质审核</a:t>
            </a:r>
            <a:endParaRPr sz="1425">
              <a:solidFill>
                <a:srgbClr val="D8DCE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圆角矩形 17"/>
          <p:cNvSpPr>
            <a:spLocks noGrp="1"/>
          </p:cNvSpPr>
          <p:nvPr/>
        </p:nvSpPr>
        <p:spPr>
          <a:xfrm>
            <a:off x="4267200" y="1695450"/>
            <a:ext cx="3657600" cy="4095750"/>
          </a:xfrm>
          <a:prstGeom prst="roundRect">
            <a:avLst>
              <a:gd name="adj" fmla="val 2083"/>
            </a:avLst>
          </a:prstGeom>
          <a:solidFill>
            <a:srgbClr val="171C22"/>
          </a:solidFill>
          <a:ln w="9525">
            <a:solidFill>
              <a:srgbClr val="2A3038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4533900" y="1962150"/>
            <a:ext cx="2095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l">
              <a:lnSpc>
                <a:spcPct val="135000"/>
              </a:lnSpc>
              <a:buNone/>
              <a:defRPr sz="2025" b="1">
                <a:solidFill>
                  <a:srgbClr val="E8B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E8B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产品意识</a:t>
            </a:r>
            <a:endParaRPr sz="2025" b="1">
              <a:solidFill>
                <a:srgbClr val="E8B04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4533900" y="2381250"/>
            <a:ext cx="2095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l">
              <a:lnSpc>
                <a:spcPct val="135000"/>
              </a:lnSpc>
              <a:buNone/>
              <a:defRPr sz="1350">
                <a:solidFill>
                  <a:srgbClr val="C6C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>
                <a:solidFill>
                  <a:srgbClr val="C6C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为结果设计</a:t>
            </a:r>
            <a:endParaRPr sz="1350">
              <a:solidFill>
                <a:srgbClr val="C6CCD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圆角矩形 20"/>
          <p:cNvSpPr>
            <a:spLocks noGrp="1"/>
          </p:cNvSpPr>
          <p:nvPr/>
        </p:nvSpPr>
        <p:spPr>
          <a:xfrm>
            <a:off x="4533900" y="2819400"/>
            <a:ext cx="533400" cy="28575"/>
          </a:xfrm>
          <a:prstGeom prst="roundRect">
            <a:avLst>
              <a:gd name="adj" fmla="val 33333"/>
            </a:avLst>
          </a:prstGeom>
          <a:solidFill>
            <a:srgbClr val="E8B04B"/>
          </a:solidFill>
          <a:ln w="9525">
            <a:noFill/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4800600" y="3143250"/>
            <a:ext cx="209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ctr">
              <a:lnSpc>
                <a:spcPct val="135000"/>
              </a:lnSpc>
              <a:buNone/>
              <a:defRPr sz="975" b="1">
                <a:solidFill>
                  <a:srgbClr val="E8B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E8B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◆</a:t>
            </a:r>
            <a:endParaRPr sz="975" b="1">
              <a:solidFill>
                <a:srgbClr val="E8B04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5086350" y="3143250"/>
            <a:ext cx="2571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l">
              <a:lnSpc>
                <a:spcPct val="130000"/>
              </a:lnSpc>
              <a:buNone/>
              <a:defRPr sz="1425">
                <a:solidFill>
                  <a:srgbClr val="D8DCE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>
                <a:solidFill>
                  <a:srgbClr val="D8DCE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0-1 全流程参与</a:t>
            </a:r>
            <a:endParaRPr sz="1425">
              <a:solidFill>
                <a:srgbClr val="D8DCE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4800600" y="3619500"/>
            <a:ext cx="209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ctr">
              <a:lnSpc>
                <a:spcPct val="135000"/>
              </a:lnSpc>
              <a:buNone/>
              <a:defRPr sz="975" b="1">
                <a:solidFill>
                  <a:srgbClr val="E8B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E8B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◆</a:t>
            </a:r>
            <a:endParaRPr sz="975" b="1">
              <a:solidFill>
                <a:srgbClr val="E8B04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5086350" y="3619500"/>
            <a:ext cx="2571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l">
              <a:lnSpc>
                <a:spcPct val="130000"/>
              </a:lnSpc>
              <a:buNone/>
              <a:defRPr sz="1425">
                <a:solidFill>
                  <a:srgbClr val="D8DCE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>
                <a:solidFill>
                  <a:srgbClr val="D8DCE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快速迭代与品质标杆</a:t>
            </a:r>
            <a:endParaRPr sz="1425">
              <a:solidFill>
                <a:srgbClr val="D8DCE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4800600" y="4095750"/>
            <a:ext cx="209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ctr">
              <a:lnSpc>
                <a:spcPct val="135000"/>
              </a:lnSpc>
              <a:buNone/>
              <a:defRPr sz="975" b="1">
                <a:solidFill>
                  <a:srgbClr val="E8B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E8B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◆</a:t>
            </a:r>
            <a:endParaRPr sz="975" b="1">
              <a:solidFill>
                <a:srgbClr val="E8B04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5086350" y="4095750"/>
            <a:ext cx="2571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l">
              <a:lnSpc>
                <a:spcPct val="130000"/>
              </a:lnSpc>
              <a:buNone/>
              <a:defRPr sz="1425">
                <a:solidFill>
                  <a:srgbClr val="D8DCE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>
                <a:solidFill>
                  <a:srgbClr val="D8DCE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发行与市场认知</a:t>
            </a:r>
            <a:endParaRPr sz="1425">
              <a:solidFill>
                <a:srgbClr val="D8DCE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4800600" y="4572000"/>
            <a:ext cx="209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ctr">
              <a:lnSpc>
                <a:spcPct val="135000"/>
              </a:lnSpc>
              <a:buNone/>
              <a:defRPr sz="975" b="1">
                <a:solidFill>
                  <a:srgbClr val="E8B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E8B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◆</a:t>
            </a:r>
            <a:endParaRPr sz="975" b="1">
              <a:solidFill>
                <a:srgbClr val="E8B04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5086350" y="4572000"/>
            <a:ext cx="2571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l">
              <a:lnSpc>
                <a:spcPct val="130000"/>
              </a:lnSpc>
              <a:buNone/>
              <a:defRPr sz="1425">
                <a:solidFill>
                  <a:srgbClr val="D8DCE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>
                <a:solidFill>
                  <a:srgbClr val="D8DCE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多品类美术适配</a:t>
            </a:r>
            <a:endParaRPr sz="1425">
              <a:solidFill>
                <a:srgbClr val="D8DCE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圆角矩形 29"/>
          <p:cNvSpPr>
            <a:spLocks noGrp="1"/>
          </p:cNvSpPr>
          <p:nvPr/>
        </p:nvSpPr>
        <p:spPr>
          <a:xfrm>
            <a:off x="7924800" y="1695450"/>
            <a:ext cx="3657600" cy="4095750"/>
          </a:xfrm>
          <a:prstGeom prst="roundRect">
            <a:avLst>
              <a:gd name="adj" fmla="val 2083"/>
            </a:avLst>
          </a:prstGeom>
          <a:solidFill>
            <a:srgbClr val="171C22"/>
          </a:solidFill>
          <a:ln w="9525">
            <a:solidFill>
              <a:srgbClr val="2A3038"/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8191500" y="1962150"/>
            <a:ext cx="2095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l">
              <a:lnSpc>
                <a:spcPct val="135000"/>
              </a:lnSpc>
              <a:buNone/>
              <a:defRPr sz="2025" b="1">
                <a:solidFill>
                  <a:srgbClr val="E8B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E8B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设计能力</a:t>
            </a:r>
            <a:endParaRPr sz="2025" b="1">
              <a:solidFill>
                <a:srgbClr val="E8B04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8191500" y="2381250"/>
            <a:ext cx="2095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l">
              <a:lnSpc>
                <a:spcPct val="135000"/>
              </a:lnSpc>
              <a:buNone/>
              <a:defRPr sz="1350">
                <a:solidFill>
                  <a:srgbClr val="C6C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>
                <a:solidFill>
                  <a:srgbClr val="C6C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从概念到成品</a:t>
            </a:r>
            <a:endParaRPr sz="1350">
              <a:solidFill>
                <a:srgbClr val="C6CCD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圆角矩形 32"/>
          <p:cNvSpPr>
            <a:spLocks noGrp="1"/>
          </p:cNvSpPr>
          <p:nvPr/>
        </p:nvSpPr>
        <p:spPr>
          <a:xfrm>
            <a:off x="8191500" y="2819400"/>
            <a:ext cx="533400" cy="28575"/>
          </a:xfrm>
          <a:prstGeom prst="roundRect">
            <a:avLst>
              <a:gd name="adj" fmla="val 33333"/>
            </a:avLst>
          </a:prstGeom>
          <a:solidFill>
            <a:srgbClr val="E8B04B"/>
          </a:solidFill>
          <a:ln w="9525">
            <a:noFill/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8458200" y="3143250"/>
            <a:ext cx="209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ctr">
              <a:lnSpc>
                <a:spcPct val="135000"/>
              </a:lnSpc>
              <a:buNone/>
              <a:defRPr sz="975" b="1">
                <a:solidFill>
                  <a:srgbClr val="E8B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E8B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◆</a:t>
            </a:r>
            <a:endParaRPr sz="975" b="1">
              <a:solidFill>
                <a:srgbClr val="E8B04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8743950" y="3143250"/>
            <a:ext cx="2571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l">
              <a:lnSpc>
                <a:spcPct val="130000"/>
              </a:lnSpc>
              <a:buNone/>
              <a:defRPr sz="1425">
                <a:solidFill>
                  <a:srgbClr val="D8DCE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>
                <a:solidFill>
                  <a:srgbClr val="D8DCE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美术风格孵化</a:t>
            </a:r>
            <a:endParaRPr sz="1425">
              <a:solidFill>
                <a:srgbClr val="D8DCE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8458200" y="3619500"/>
            <a:ext cx="209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ctr">
              <a:lnSpc>
                <a:spcPct val="135000"/>
              </a:lnSpc>
              <a:buNone/>
              <a:defRPr sz="975" b="1">
                <a:solidFill>
                  <a:srgbClr val="E8B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E8B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◆</a:t>
            </a:r>
            <a:endParaRPr sz="975" b="1">
              <a:solidFill>
                <a:srgbClr val="E8B04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8743950" y="3619500"/>
            <a:ext cx="2571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l">
              <a:lnSpc>
                <a:spcPct val="130000"/>
              </a:lnSpc>
              <a:buNone/>
              <a:defRPr sz="1425">
                <a:solidFill>
                  <a:srgbClr val="D8DCE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>
                <a:solidFill>
                  <a:srgbClr val="D8DCE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角色原画 / 立绘 / KV</a:t>
            </a:r>
            <a:endParaRPr sz="1425">
              <a:solidFill>
                <a:srgbClr val="D8DCE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8458200" y="4095750"/>
            <a:ext cx="209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ctr">
              <a:lnSpc>
                <a:spcPct val="135000"/>
              </a:lnSpc>
              <a:buNone/>
              <a:defRPr sz="975" b="1">
                <a:solidFill>
                  <a:srgbClr val="E8B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E8B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◆</a:t>
            </a:r>
            <a:endParaRPr sz="975" b="1">
              <a:solidFill>
                <a:srgbClr val="E8B04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8743950" y="4095750"/>
            <a:ext cx="2571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l">
              <a:lnSpc>
                <a:spcPct val="130000"/>
              </a:lnSpc>
              <a:buNone/>
              <a:defRPr sz="1425">
                <a:solidFill>
                  <a:srgbClr val="D8DCE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425">
                <a:solidFill>
                  <a:srgbClr val="D8DCE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从设计制作全方位</a:t>
            </a:r>
            <a:r>
              <a:rPr sz="1425">
                <a:solidFill>
                  <a:srgbClr val="D8DCE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指导</a:t>
            </a:r>
            <a:endParaRPr sz="1425">
              <a:solidFill>
                <a:srgbClr val="D8DCE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8458200" y="4572000"/>
            <a:ext cx="209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ctr">
              <a:lnSpc>
                <a:spcPct val="135000"/>
              </a:lnSpc>
              <a:buNone/>
              <a:defRPr sz="975" b="1">
                <a:solidFill>
                  <a:srgbClr val="E8B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E8B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◆</a:t>
            </a:r>
            <a:endParaRPr sz="975" b="1">
              <a:solidFill>
                <a:srgbClr val="E8B04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8743950" y="4572000"/>
            <a:ext cx="2571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l">
              <a:lnSpc>
                <a:spcPct val="130000"/>
              </a:lnSpc>
              <a:buNone/>
              <a:defRPr sz="1425">
                <a:solidFill>
                  <a:srgbClr val="D8DCE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>
                <a:solidFill>
                  <a:srgbClr val="D8DCE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3D 与渲染基础</a:t>
            </a:r>
            <a:endParaRPr sz="1425">
              <a:solidFill>
                <a:srgbClr val="D8DCE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3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4" name="矩形 23"/>
          <p:cNvSpPr>
            <a:spLocks noGrp="1"/>
          </p:cNvSpPr>
          <p:nvPr/>
        </p:nvSpPr>
        <p:spPr>
          <a:xfrm>
            <a:off x="609600" y="438150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l">
              <a:lnSpc>
                <a:spcPct val="135000"/>
              </a:lnSpc>
              <a:buNone/>
              <a:defRPr sz="1350" b="1">
                <a:solidFill>
                  <a:srgbClr val="E8B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E8B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CAREER PATH</a:t>
            </a:r>
            <a:endParaRPr sz="1350" b="1">
              <a:solidFill>
                <a:srgbClr val="E8B04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09600" y="742950"/>
            <a:ext cx="109728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l">
              <a:lnSpc>
                <a:spcPct val="135000"/>
              </a:lnSpc>
              <a:buNone/>
              <a:defRPr sz="2700" b="1">
                <a:solidFill>
                  <a:srgbClr val="F4F1E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1">
                <a:solidFill>
                  <a:srgbClr val="F4F1E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2008 至今：从 3D 模型师到美术总监</a:t>
            </a:r>
            <a:endParaRPr sz="2700" b="1">
              <a:solidFill>
                <a:srgbClr val="F4F1E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圆角矩形 2"/>
          <p:cNvSpPr>
            <a:spLocks noGrp="1"/>
          </p:cNvSpPr>
          <p:nvPr/>
        </p:nvSpPr>
        <p:spPr>
          <a:xfrm>
            <a:off x="609600" y="1428750"/>
            <a:ext cx="10972800" cy="9525"/>
          </a:xfrm>
          <a:prstGeom prst="roundRect">
            <a:avLst>
              <a:gd name="adj" fmla="val 50000"/>
            </a:avLst>
          </a:prstGeom>
          <a:solidFill>
            <a:srgbClr val="232A33"/>
          </a:solidFill>
          <a:ln w="9525">
            <a:noFill/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6438900"/>
            <a:ext cx="4572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l">
              <a:lnSpc>
                <a:spcPct val="135000"/>
              </a:lnSpc>
              <a:buNone/>
              <a:defRPr sz="1050">
                <a:solidFill>
                  <a:srgbClr val="6E76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>
                <a:solidFill>
                  <a:srgbClr val="6E76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张斌 · 游戏美术总监</a:t>
            </a:r>
            <a:endParaRPr sz="1050">
              <a:solidFill>
                <a:srgbClr val="6E768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1201400" y="6438900"/>
            <a:ext cx="4572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5000"/>
              </a:lnSpc>
              <a:buNone/>
              <a:defRPr sz="1050">
                <a:solidFill>
                  <a:srgbClr val="6E76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>
                <a:solidFill>
                  <a:srgbClr val="6E76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1050">
              <a:solidFill>
                <a:srgbClr val="6E768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圆角矩形 5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609600" y="1676400"/>
            <a:ext cx="10972800" cy="1314450"/>
          </a:xfrm>
          <a:prstGeom prst="roundRect">
            <a:avLst>
              <a:gd name="adj" fmla="val 5797"/>
            </a:avLst>
          </a:prstGeom>
          <a:solidFill>
            <a:srgbClr val="171C22"/>
          </a:solidFill>
          <a:ln w="9525">
            <a:solidFill>
              <a:srgbClr val="2A3038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876300" y="1885950"/>
            <a:ext cx="1428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l">
              <a:lnSpc>
                <a:spcPct val="135000"/>
              </a:lnSpc>
              <a:buNone/>
              <a:defRPr sz="1800" b="1">
                <a:solidFill>
                  <a:srgbClr val="E8B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E8B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2008-2014</a:t>
            </a:r>
            <a:endParaRPr sz="1800" b="1">
              <a:solidFill>
                <a:srgbClr val="E8B04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876300" y="2343150"/>
            <a:ext cx="142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l">
              <a:lnSpc>
                <a:spcPct val="135000"/>
              </a:lnSpc>
              <a:buNone/>
              <a:defRPr sz="1200">
                <a:solidFill>
                  <a:srgbClr val="A7AF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>
                <a:solidFill>
                  <a:srgbClr val="A7AF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基础期</a:t>
            </a:r>
            <a:endParaRPr sz="1200">
              <a:solidFill>
                <a:srgbClr val="A7AF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圆角矩形 8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2628900" y="1847850"/>
            <a:ext cx="9525" cy="971550"/>
          </a:xfrm>
          <a:prstGeom prst="roundRect">
            <a:avLst>
              <a:gd name="adj" fmla="val 50000"/>
            </a:avLst>
          </a:prstGeom>
          <a:solidFill>
            <a:srgbClr val="2E3540"/>
          </a:solidFill>
          <a:ln w="9525">
            <a:noFill/>
            <a:prstDash val="solid"/>
          </a:ln>
        </p:spPr>
      </p:sp>
      <p:sp>
        <p:nvSpPr>
          <p:cNvPr id="10" name="矩形 9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2895600" y="1866900"/>
            <a:ext cx="84201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l">
              <a:lnSpc>
                <a:spcPct val="125000"/>
              </a:lnSpc>
              <a:buNone/>
              <a:defRPr sz="1500" b="1">
                <a:solidFill>
                  <a:srgbClr val="EDE9E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EDE9E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沈阳瀚唐 · 3D 模型师 → T4game · 原画设计/组长 → 深圳墨麟 · 角色主管</a:t>
            </a:r>
            <a:endParaRPr sz="1500" b="1">
              <a:solidFill>
                <a:srgbClr val="EDE9E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2895600" y="2438400"/>
            <a:ext cx="8420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l">
              <a:lnSpc>
                <a:spcPct val="135000"/>
              </a:lnSpc>
              <a:buNone/>
              <a:defRPr sz="1200">
                <a:solidFill>
                  <a:srgbClr val="A7AF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>
                <a:solidFill>
                  <a:srgbClr val="A7AF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完成模型到原画的转型，建立角色设计基本功</a:t>
            </a:r>
            <a:r>
              <a:rPr lang="zh-CN" sz="1200">
                <a:solidFill>
                  <a:srgbClr val="A7AF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，从</a:t>
            </a:r>
            <a:r>
              <a:rPr lang="en-US" altLang="zh-CN" sz="1200">
                <a:solidFill>
                  <a:srgbClr val="A7AF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T4game</a:t>
            </a:r>
            <a:r>
              <a:rPr lang="zh-CN" altLang="en-US" sz="1200">
                <a:solidFill>
                  <a:srgbClr val="A7AF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参与的第二款项目至今都做为核心骨干参与各个项目开发</a:t>
            </a:r>
            <a:r>
              <a:rPr sz="1200">
                <a:solidFill>
                  <a:srgbClr val="A7AF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1200">
              <a:solidFill>
                <a:srgbClr val="A7AF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圆角矩形 11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609600" y="3219450"/>
            <a:ext cx="10972800" cy="1314450"/>
          </a:xfrm>
          <a:prstGeom prst="roundRect">
            <a:avLst>
              <a:gd name="adj" fmla="val 5797"/>
            </a:avLst>
          </a:prstGeom>
          <a:solidFill>
            <a:srgbClr val="171C22"/>
          </a:solidFill>
          <a:ln w="9525">
            <a:solidFill>
              <a:srgbClr val="2A3038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876300" y="3429000"/>
            <a:ext cx="1428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l">
              <a:lnSpc>
                <a:spcPct val="135000"/>
              </a:lnSpc>
              <a:buNone/>
              <a:defRPr sz="1800" b="1">
                <a:solidFill>
                  <a:srgbClr val="E8B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E8B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2014-2020</a:t>
            </a:r>
            <a:endParaRPr sz="1800" b="1">
              <a:solidFill>
                <a:srgbClr val="E8B04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876300" y="3886200"/>
            <a:ext cx="142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l">
              <a:lnSpc>
                <a:spcPct val="135000"/>
              </a:lnSpc>
              <a:buNone/>
              <a:defRPr sz="1200">
                <a:solidFill>
                  <a:srgbClr val="A7AF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>
                <a:solidFill>
                  <a:srgbClr val="A7AF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主设与主美</a:t>
            </a:r>
            <a:endParaRPr sz="1200">
              <a:solidFill>
                <a:srgbClr val="A7AF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圆角矩形 14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2628900" y="3390900"/>
            <a:ext cx="9525" cy="971550"/>
          </a:xfrm>
          <a:prstGeom prst="roundRect">
            <a:avLst>
              <a:gd name="adj" fmla="val 50000"/>
            </a:avLst>
          </a:prstGeom>
          <a:solidFill>
            <a:srgbClr val="2E3540"/>
          </a:solidFill>
          <a:ln w="9525">
            <a:noFill/>
            <a:prstDash val="solid"/>
          </a:ln>
        </p:spPr>
      </p:sp>
      <p:sp>
        <p:nvSpPr>
          <p:cNvPr id="16" name="矩形 15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2895600" y="3409950"/>
            <a:ext cx="84201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l">
              <a:lnSpc>
                <a:spcPct val="125000"/>
              </a:lnSpc>
              <a:buNone/>
              <a:defRPr sz="1500" b="1">
                <a:solidFill>
                  <a:srgbClr val="EDE9E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EDE9E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网易签约画师/个人工作室（10+ 项目）→ 深圳淘乐 · 主美（国风 Q 回合制）</a:t>
            </a:r>
            <a:endParaRPr sz="1500" b="1">
              <a:solidFill>
                <a:srgbClr val="EDE9E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2895600" y="3981450"/>
            <a:ext cx="8420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l">
              <a:lnSpc>
                <a:spcPct val="135000"/>
              </a:lnSpc>
              <a:buNone/>
              <a:defRPr sz="1200">
                <a:solidFill>
                  <a:srgbClr val="A7AF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>
                <a:solidFill>
                  <a:srgbClr val="A7AF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以签约画师覆盖多项目，随后完整主导美术团队。</a:t>
            </a:r>
            <a:endParaRPr sz="1200">
              <a:solidFill>
                <a:srgbClr val="A7AF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圆角矩形 17"/>
          <p:cNvSpPr>
            <a:spLocks noGrp="1"/>
          </p:cNvSpPr>
          <p:nvPr>
            <p:custDataLst>
              <p:tags r:id="rId13"/>
            </p:custDataLst>
          </p:nvPr>
        </p:nvSpPr>
        <p:spPr>
          <a:xfrm>
            <a:off x="609600" y="4762500"/>
            <a:ext cx="10972800" cy="1314450"/>
          </a:xfrm>
          <a:prstGeom prst="roundRect">
            <a:avLst>
              <a:gd name="adj" fmla="val 5797"/>
            </a:avLst>
          </a:prstGeom>
          <a:solidFill>
            <a:srgbClr val="171C22"/>
          </a:solidFill>
          <a:ln w="9525">
            <a:solidFill>
              <a:srgbClr val="2A3038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>
            <p:custDataLst>
              <p:tags r:id="rId14"/>
            </p:custDataLst>
          </p:nvPr>
        </p:nvSpPr>
        <p:spPr>
          <a:xfrm>
            <a:off x="876300" y="4972050"/>
            <a:ext cx="1428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l">
              <a:lnSpc>
                <a:spcPct val="135000"/>
              </a:lnSpc>
              <a:buNone/>
              <a:defRPr sz="1800" b="1">
                <a:solidFill>
                  <a:srgbClr val="E8B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E8B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2020-今</a:t>
            </a:r>
            <a:endParaRPr sz="1800" b="1">
              <a:solidFill>
                <a:srgbClr val="E8B04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>
            <p:custDataLst>
              <p:tags r:id="rId15"/>
            </p:custDataLst>
          </p:nvPr>
        </p:nvSpPr>
        <p:spPr>
          <a:xfrm>
            <a:off x="876300" y="5429250"/>
            <a:ext cx="142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l">
              <a:lnSpc>
                <a:spcPct val="135000"/>
              </a:lnSpc>
              <a:buNone/>
              <a:defRPr sz="1200">
                <a:solidFill>
                  <a:srgbClr val="A7AF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>
                <a:solidFill>
                  <a:srgbClr val="A7AF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管理与总监</a:t>
            </a:r>
            <a:endParaRPr sz="1200">
              <a:solidFill>
                <a:srgbClr val="A7AF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圆角矩形 20"/>
          <p:cNvSpPr>
            <a:spLocks noGrp="1"/>
          </p:cNvSpPr>
          <p:nvPr>
            <p:custDataLst>
              <p:tags r:id="rId16"/>
            </p:custDataLst>
          </p:nvPr>
        </p:nvSpPr>
        <p:spPr>
          <a:xfrm>
            <a:off x="2628900" y="4933950"/>
            <a:ext cx="9525" cy="971550"/>
          </a:xfrm>
          <a:prstGeom prst="roundRect">
            <a:avLst>
              <a:gd name="adj" fmla="val 50000"/>
            </a:avLst>
          </a:prstGeom>
          <a:solidFill>
            <a:srgbClr val="2E3540"/>
          </a:solidFill>
          <a:ln w="9525">
            <a:noFill/>
            <a:prstDash val="solid"/>
          </a:ln>
        </p:spPr>
      </p:sp>
      <p:sp>
        <p:nvSpPr>
          <p:cNvPr id="22" name="矩形 21"/>
          <p:cNvSpPr>
            <a:spLocks noGrp="1"/>
          </p:cNvSpPr>
          <p:nvPr>
            <p:custDataLst>
              <p:tags r:id="rId17"/>
            </p:custDataLst>
          </p:nvPr>
        </p:nvSpPr>
        <p:spPr>
          <a:xfrm>
            <a:off x="2895600" y="4953000"/>
            <a:ext cx="84201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l">
              <a:lnSpc>
                <a:spcPct val="125000"/>
              </a:lnSpc>
              <a:buNone/>
              <a:defRPr sz="1500" b="1">
                <a:solidFill>
                  <a:srgbClr val="EDE9E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EDE9E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深圳冰川 · 角色</a:t>
            </a:r>
            <a:r>
              <a:rPr lang="zh-CN" sz="1500" b="1">
                <a:solidFill>
                  <a:srgbClr val="EDE9E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接口人</a:t>
            </a:r>
            <a:r>
              <a:rPr sz="1500" b="1">
                <a:solidFill>
                  <a:srgbClr val="EDE9E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/资深原画（大世界开放世界）→ 深圳奕兆 · 美术总监</a:t>
            </a:r>
            <a:endParaRPr sz="1500" b="1">
              <a:solidFill>
                <a:srgbClr val="EDE9E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>
            <p:custDataLst>
              <p:tags r:id="rId18"/>
            </p:custDataLst>
          </p:nvPr>
        </p:nvSpPr>
        <p:spPr>
          <a:xfrm>
            <a:off x="2895600" y="5524500"/>
            <a:ext cx="8420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l">
              <a:lnSpc>
                <a:spcPct val="135000"/>
              </a:lnSpc>
              <a:buNone/>
              <a:defRPr sz="1200">
                <a:solidFill>
                  <a:srgbClr val="A7AF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>
                <a:solidFill>
                  <a:srgbClr val="A7AF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从角色主管到美术总监，负责 SOP、管线与品质终审。</a:t>
            </a:r>
            <a:endParaRPr sz="1200">
              <a:solidFill>
                <a:srgbClr val="A7AF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rcRect l="778" r="77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solidFill>
              <a:srgbClr val="2E3540"/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D10">
              <a:alpha val="72157"/>
            </a:srgbClr>
          </a:solidFill>
          <a:ln w="9525">
            <a:noFill/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0D10">
                  <a:alpha val="65098"/>
                </a:srgbClr>
              </a:gs>
              <a:gs pos="42000">
                <a:srgbClr val="0B0D10">
                  <a:alpha val="0"/>
                </a:srgbClr>
              </a:gs>
            </a:gsLst>
            <a:lin ang="10800000"/>
          </a:gradFill>
          <a:ln w="9525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0" y="2362200"/>
            <a:ext cx="12192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ctr">
              <a:lnSpc>
                <a:spcPct val="135000"/>
              </a:lnSpc>
              <a:buNone/>
              <a:defRPr sz="1800" b="1">
                <a:solidFill>
                  <a:srgbClr val="E8B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E8B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1800" b="1">
              <a:solidFill>
                <a:srgbClr val="E8B04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0" y="2914650"/>
            <a:ext cx="121920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ctr">
              <a:lnSpc>
                <a:spcPct val="135000"/>
              </a:lnSpc>
              <a:buNone/>
              <a:defRPr sz="4500" b="1">
                <a:solidFill>
                  <a:srgbClr val="F4F1E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500" b="1">
                <a:solidFill>
                  <a:srgbClr val="F4F1E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项目成果</a:t>
            </a:r>
            <a:endParaRPr sz="4500" b="1">
              <a:solidFill>
                <a:srgbClr val="F4F1E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0" y="4000500"/>
            <a:ext cx="12192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ctr">
              <a:lnSpc>
                <a:spcPct val="135000"/>
              </a:lnSpc>
              <a:buNone/>
              <a:defRPr sz="1800">
                <a:solidFill>
                  <a:srgbClr val="C6C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>
                <a:solidFill>
                  <a:srgbClr val="C6C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奕兆 · 冰川 · 淘乐 · 网易：管理成果与项目落地</a:t>
            </a:r>
            <a:endParaRPr sz="1800">
              <a:solidFill>
                <a:srgbClr val="C6CCD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09600" y="6438900"/>
            <a:ext cx="4572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l">
              <a:lnSpc>
                <a:spcPct val="135000"/>
              </a:lnSpc>
              <a:buNone/>
              <a:defRPr sz="1050">
                <a:solidFill>
                  <a:srgbClr val="6E76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>
                <a:solidFill>
                  <a:srgbClr val="6E76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张斌 · 游戏美术总监</a:t>
            </a:r>
            <a:endParaRPr sz="1050">
              <a:solidFill>
                <a:srgbClr val="6E768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1201400" y="6438900"/>
            <a:ext cx="4572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5000"/>
              </a:lnSpc>
              <a:buNone/>
              <a:defRPr sz="1050">
                <a:solidFill>
                  <a:srgbClr val="6E76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>
                <a:solidFill>
                  <a:srgbClr val="6E76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</a:t>
            </a:r>
            <a:endParaRPr sz="1050">
              <a:solidFill>
                <a:srgbClr val="6E768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3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9" name="矩形 18"/>
          <p:cNvSpPr>
            <a:spLocks noGrp="1"/>
          </p:cNvSpPr>
          <p:nvPr/>
        </p:nvSpPr>
        <p:spPr>
          <a:xfrm>
            <a:off x="609600" y="438150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l">
              <a:lnSpc>
                <a:spcPct val="135000"/>
              </a:lnSpc>
              <a:buNone/>
              <a:defRPr sz="1350" b="1">
                <a:solidFill>
                  <a:srgbClr val="E8B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E8B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/ 奕兆科技</a:t>
            </a:r>
            <a:endParaRPr sz="1350" b="1">
              <a:solidFill>
                <a:srgbClr val="E8B04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09600" y="742950"/>
            <a:ext cx="109728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l">
              <a:lnSpc>
                <a:spcPct val="135000"/>
              </a:lnSpc>
              <a:buNone/>
              <a:defRPr sz="2700" b="1">
                <a:solidFill>
                  <a:srgbClr val="F4F1E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1">
                <a:solidFill>
                  <a:srgbClr val="F4F1E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Zodiac Heroes · 欧美卡通三消的 0-1 美术体系</a:t>
            </a:r>
            <a:endParaRPr sz="2700" b="1">
              <a:solidFill>
                <a:srgbClr val="F4F1E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圆角矩形 2"/>
          <p:cNvSpPr>
            <a:spLocks noGrp="1"/>
          </p:cNvSpPr>
          <p:nvPr/>
        </p:nvSpPr>
        <p:spPr>
          <a:xfrm>
            <a:off x="609600" y="1428750"/>
            <a:ext cx="10972800" cy="9525"/>
          </a:xfrm>
          <a:prstGeom prst="roundRect">
            <a:avLst>
              <a:gd name="adj" fmla="val 50000"/>
            </a:avLst>
          </a:prstGeom>
          <a:solidFill>
            <a:srgbClr val="232A33"/>
          </a:solidFill>
          <a:ln w="9525">
            <a:noFill/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6438900"/>
            <a:ext cx="4572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l">
              <a:lnSpc>
                <a:spcPct val="135000"/>
              </a:lnSpc>
              <a:buNone/>
              <a:defRPr sz="1050">
                <a:solidFill>
                  <a:srgbClr val="6E76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>
                <a:solidFill>
                  <a:srgbClr val="6E76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项目成果</a:t>
            </a:r>
            <a:endParaRPr sz="1050">
              <a:solidFill>
                <a:srgbClr val="6E768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1201400" y="6438900"/>
            <a:ext cx="4572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5000"/>
              </a:lnSpc>
              <a:buNone/>
              <a:defRPr sz="1050">
                <a:solidFill>
                  <a:srgbClr val="6E76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>
                <a:solidFill>
                  <a:srgbClr val="6E76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06</a:t>
            </a:r>
            <a:endParaRPr sz="1050">
              <a:solidFill>
                <a:srgbClr val="6E768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609600" y="1714500"/>
            <a:ext cx="38100" cy="247650"/>
          </a:xfrm>
          <a:prstGeom prst="roundRect">
            <a:avLst>
              <a:gd name="adj" fmla="val 50000"/>
            </a:avLst>
          </a:prstGeom>
          <a:solidFill>
            <a:srgbClr val="E8B04B"/>
          </a:solidFill>
          <a:ln w="9525">
            <a:noFill/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781050" y="1695450"/>
            <a:ext cx="5905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l">
              <a:lnSpc>
                <a:spcPct val="135000"/>
              </a:lnSpc>
              <a:buNone/>
              <a:defRPr sz="1275" b="1">
                <a:solidFill>
                  <a:srgbClr val="F2C9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F2C9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2025.02 - 今 ｜ 美术总监 ｜ </a:t>
            </a:r>
            <a:r>
              <a:rPr lang="zh-CN" sz="1275" b="1">
                <a:solidFill>
                  <a:srgbClr val="F2C9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部门重建</a:t>
            </a:r>
            <a:r>
              <a:rPr lang="en-US" altLang="zh-CN" sz="1275" b="1">
                <a:solidFill>
                  <a:srgbClr val="F2C9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&amp;AI</a:t>
            </a:r>
            <a:r>
              <a:rPr lang="zh-CN" altLang="en-US" sz="1275" b="1">
                <a:solidFill>
                  <a:srgbClr val="F2C9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赋能</a:t>
            </a:r>
            <a:endParaRPr lang="zh-CN" altLang="en-US" sz="1275" b="1">
              <a:solidFill>
                <a:srgbClr val="F2C97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76300" y="2247900"/>
            <a:ext cx="209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ctr">
              <a:lnSpc>
                <a:spcPct val="135000"/>
              </a:lnSpc>
              <a:buNone/>
              <a:defRPr sz="1050" b="1">
                <a:solidFill>
                  <a:srgbClr val="E8B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E8B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◆</a:t>
            </a:r>
            <a:endParaRPr sz="1050" b="1">
              <a:solidFill>
                <a:srgbClr val="E8B04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1162050" y="2247900"/>
            <a:ext cx="5353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l">
              <a:lnSpc>
                <a:spcPct val="130000"/>
              </a:lnSpc>
              <a:buNone/>
              <a:defRPr sz="1500">
                <a:solidFill>
                  <a:srgbClr val="D8DCE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>
                <a:solidFill>
                  <a:srgbClr val="D8DCE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制定 SOP，统一生产流程与交付标准</a:t>
            </a:r>
            <a:endParaRPr sz="1500">
              <a:solidFill>
                <a:srgbClr val="D8DCE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876300" y="2743200"/>
            <a:ext cx="209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ctr">
              <a:lnSpc>
                <a:spcPct val="135000"/>
              </a:lnSpc>
              <a:buNone/>
              <a:defRPr sz="1050" b="1">
                <a:solidFill>
                  <a:srgbClr val="E8B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E8B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◆</a:t>
            </a:r>
            <a:endParaRPr sz="1050" b="1">
              <a:solidFill>
                <a:srgbClr val="E8B04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1162050" y="2743200"/>
            <a:ext cx="5353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l">
              <a:lnSpc>
                <a:spcPct val="130000"/>
              </a:lnSpc>
              <a:buNone/>
              <a:defRPr sz="1500">
                <a:solidFill>
                  <a:srgbClr val="D8DCE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>
                <a:solidFill>
                  <a:srgbClr val="D8DCE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重构美术组织结构，提升协作与效能</a:t>
            </a:r>
            <a:endParaRPr sz="1500">
              <a:solidFill>
                <a:srgbClr val="D8DCE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876300" y="3238500"/>
            <a:ext cx="209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ctr">
              <a:lnSpc>
                <a:spcPct val="135000"/>
              </a:lnSpc>
              <a:buNone/>
              <a:defRPr sz="1050" b="1">
                <a:solidFill>
                  <a:srgbClr val="E8B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E8B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◆</a:t>
            </a:r>
            <a:endParaRPr sz="1050" b="1">
              <a:solidFill>
                <a:srgbClr val="E8B04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1162050" y="3238500"/>
            <a:ext cx="5353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l">
              <a:lnSpc>
                <a:spcPct val="130000"/>
              </a:lnSpc>
              <a:buNone/>
              <a:defRPr sz="1500">
                <a:solidFill>
                  <a:srgbClr val="D8DCE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sym typeface="+mn-ea"/>
              </a:rPr>
              <a:t>最终品质审核，保证风格与品质一致</a:t>
            </a:r>
            <a:endParaRPr sz="1500">
              <a:solidFill>
                <a:srgbClr val="D8DCE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876300" y="3733800"/>
            <a:ext cx="209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ctr">
              <a:lnSpc>
                <a:spcPct val="135000"/>
              </a:lnSpc>
              <a:buNone/>
              <a:defRPr sz="1050" b="1">
                <a:solidFill>
                  <a:srgbClr val="E8B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E8B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◆</a:t>
            </a:r>
            <a:endParaRPr sz="1050" b="1">
              <a:solidFill>
                <a:srgbClr val="E8B04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1162050" y="3733800"/>
            <a:ext cx="5353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l">
              <a:lnSpc>
                <a:spcPct val="130000"/>
              </a:lnSpc>
              <a:buNone/>
              <a:defRPr sz="1500">
                <a:solidFill>
                  <a:srgbClr val="D8DCE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500">
                <a:solidFill>
                  <a:srgbClr val="D8DCE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产品次留、转化数据提升</a:t>
            </a:r>
            <a:r>
              <a:rPr lang="en-US" altLang="zh-CN" sz="1500">
                <a:solidFill>
                  <a:srgbClr val="D8DCE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</a:t>
            </a:r>
            <a:r>
              <a:rPr lang="zh-CN" altLang="en-US" sz="1500">
                <a:solidFill>
                  <a:srgbClr val="D8DCE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倍，超竞品平均值</a:t>
            </a:r>
            <a:endParaRPr lang="zh-CN" altLang="en-US" sz="1500">
              <a:solidFill>
                <a:srgbClr val="D8DCE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09600" y="5467350"/>
            <a:ext cx="59055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l">
              <a:lnSpc>
                <a:spcPct val="140000"/>
              </a:lnSpc>
              <a:buNone/>
              <a:defRPr sz="1350">
                <a:solidFill>
                  <a:srgbClr val="C6C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>
                <a:solidFill>
                  <a:srgbClr val="C6C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从流程、组织到终审，建立可复制的美术生产与品质闭环。</a:t>
            </a:r>
            <a:endParaRPr sz="1350">
              <a:solidFill>
                <a:srgbClr val="C6CCD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5" name="图片 34"/>
          <p:cNvPicPr>
            <a:picLocks noChangeAspect="1"/>
          </p:cNvPicPr>
          <p:nvPr/>
        </p:nvPicPr>
        <p:blipFill>
          <a:blip r:embed="rId9"/>
          <a:srcRect t="15064" b="15064"/>
          <a:stretch>
            <a:fillRect/>
          </a:stretch>
        </p:blipFill>
        <p:spPr>
          <a:xfrm>
            <a:off x="7429500" y="1695450"/>
            <a:ext cx="4152900" cy="4476750"/>
          </a:xfrm>
          <a:prstGeom prst="roundRect">
            <a:avLst>
              <a:gd name="adj" fmla="val 1835"/>
            </a:avLst>
          </a:prstGeom>
        </p:spPr>
      </p:pic>
      <p:sp>
        <p:nvSpPr>
          <p:cNvPr id="18" name="圆角矩形 17"/>
          <p:cNvSpPr>
            <a:spLocks noGrp="1"/>
          </p:cNvSpPr>
          <p:nvPr/>
        </p:nvSpPr>
        <p:spPr>
          <a:xfrm>
            <a:off x="7429500" y="1695450"/>
            <a:ext cx="4152900" cy="4476750"/>
          </a:xfrm>
          <a:prstGeom prst="roundRect">
            <a:avLst>
              <a:gd name="adj" fmla="val 1835"/>
            </a:avLst>
          </a:prstGeom>
          <a:noFill/>
          <a:ln w="9525">
            <a:solidFill>
              <a:srgbClr val="2E3540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3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8" name="矩形 17"/>
          <p:cNvSpPr>
            <a:spLocks noGrp="1"/>
          </p:cNvSpPr>
          <p:nvPr/>
        </p:nvSpPr>
        <p:spPr>
          <a:xfrm>
            <a:off x="609600" y="438150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l">
              <a:lnSpc>
                <a:spcPct val="135000"/>
              </a:lnSpc>
              <a:buNone/>
              <a:defRPr sz="1350" b="1">
                <a:solidFill>
                  <a:srgbClr val="E8B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E8B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项目成果</a:t>
            </a:r>
            <a:endParaRPr sz="1350" b="1">
              <a:solidFill>
                <a:srgbClr val="E8B04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09600" y="742950"/>
            <a:ext cx="109728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l">
              <a:lnSpc>
                <a:spcPct val="135000"/>
              </a:lnSpc>
              <a:buNone/>
              <a:defRPr sz="2700" b="1">
                <a:solidFill>
                  <a:srgbClr val="F4F1E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1">
                <a:solidFill>
                  <a:srgbClr val="F4F1E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角色、UI 与商业化包装的一体化产出</a:t>
            </a:r>
            <a:endParaRPr sz="2700" b="1">
              <a:solidFill>
                <a:srgbClr val="F4F1E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圆角矩形 2"/>
          <p:cNvSpPr>
            <a:spLocks noGrp="1"/>
          </p:cNvSpPr>
          <p:nvPr/>
        </p:nvSpPr>
        <p:spPr>
          <a:xfrm>
            <a:off x="609600" y="1428750"/>
            <a:ext cx="10972800" cy="9525"/>
          </a:xfrm>
          <a:prstGeom prst="roundRect">
            <a:avLst>
              <a:gd name="adj" fmla="val 50000"/>
            </a:avLst>
          </a:prstGeom>
          <a:solidFill>
            <a:srgbClr val="232A33"/>
          </a:solidFill>
          <a:ln w="9525">
            <a:noFill/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6438900"/>
            <a:ext cx="4572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l">
              <a:lnSpc>
                <a:spcPct val="135000"/>
              </a:lnSpc>
              <a:buNone/>
              <a:defRPr sz="1050">
                <a:solidFill>
                  <a:srgbClr val="6E76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>
                <a:solidFill>
                  <a:srgbClr val="6E76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张斌 · 游戏美术总监</a:t>
            </a:r>
            <a:endParaRPr sz="1050">
              <a:solidFill>
                <a:srgbClr val="6E768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1201400" y="6438900"/>
            <a:ext cx="4572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5000"/>
              </a:lnSpc>
              <a:buNone/>
              <a:defRPr sz="1050">
                <a:solidFill>
                  <a:srgbClr val="6E76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>
                <a:solidFill>
                  <a:srgbClr val="6E76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07</a:t>
            </a:r>
            <a:endParaRPr sz="1050">
              <a:solidFill>
                <a:srgbClr val="6E768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1"/>
          <a:srcRect t="31240" b="31240"/>
          <a:stretch>
            <a:fillRect/>
          </a:stretch>
        </p:blipFill>
        <p:spPr>
          <a:xfrm>
            <a:off x="609600" y="1600200"/>
            <a:ext cx="5219700" cy="2000250"/>
          </a:xfrm>
          <a:prstGeom prst="roundRect">
            <a:avLst>
              <a:gd name="adj" fmla="val 3810"/>
            </a:avLst>
          </a:prstGeom>
        </p:spPr>
      </p:pic>
      <p:sp>
        <p:nvSpPr>
          <p:cNvPr id="7" name="圆角矩形 6"/>
          <p:cNvSpPr>
            <a:spLocks noGrp="1"/>
          </p:cNvSpPr>
          <p:nvPr/>
        </p:nvSpPr>
        <p:spPr>
          <a:xfrm>
            <a:off x="609600" y="1600200"/>
            <a:ext cx="5219700" cy="2000250"/>
          </a:xfrm>
          <a:prstGeom prst="roundRect">
            <a:avLst>
              <a:gd name="adj" fmla="val 3810"/>
            </a:avLst>
          </a:prstGeom>
          <a:noFill/>
          <a:ln w="9525">
            <a:solidFill>
              <a:srgbClr val="2E3540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609600" y="3676650"/>
            <a:ext cx="5219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ctr">
              <a:lnSpc>
                <a:spcPct val="135000"/>
              </a:lnSpc>
              <a:buNone/>
              <a:defRPr sz="1200">
                <a:solidFill>
                  <a:srgbClr val="A7AF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>
                <a:solidFill>
                  <a:srgbClr val="A7AF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角色集合</a:t>
            </a:r>
            <a:endParaRPr sz="1200">
              <a:solidFill>
                <a:srgbClr val="A7AF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6" name="图片 25"/>
          <p:cNvPicPr>
            <a:picLocks noChangeAspect="1"/>
          </p:cNvPicPr>
          <p:nvPr/>
        </p:nvPicPr>
        <p:blipFill>
          <a:blip r:embed="rId2"/>
          <a:srcRect l="18864" r="18864"/>
          <a:stretch>
            <a:fillRect/>
          </a:stretch>
        </p:blipFill>
        <p:spPr>
          <a:xfrm>
            <a:off x="6210300" y="1600200"/>
            <a:ext cx="5219700" cy="2000250"/>
          </a:xfrm>
          <a:prstGeom prst="roundRect">
            <a:avLst>
              <a:gd name="adj" fmla="val 3810"/>
            </a:avLst>
          </a:prstGeom>
        </p:spPr>
      </p:pic>
      <p:sp>
        <p:nvSpPr>
          <p:cNvPr id="10" name="圆角矩形 9"/>
          <p:cNvSpPr>
            <a:spLocks noGrp="1"/>
          </p:cNvSpPr>
          <p:nvPr/>
        </p:nvSpPr>
        <p:spPr>
          <a:xfrm>
            <a:off x="6210300" y="1600200"/>
            <a:ext cx="5219700" cy="2000250"/>
          </a:xfrm>
          <a:prstGeom prst="roundRect">
            <a:avLst>
              <a:gd name="adj" fmla="val 3810"/>
            </a:avLst>
          </a:prstGeom>
          <a:noFill/>
          <a:ln w="9525">
            <a:solidFill>
              <a:srgbClr val="2E3540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6210300" y="3676650"/>
            <a:ext cx="5219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ctr">
              <a:lnSpc>
                <a:spcPct val="135000"/>
              </a:lnSpc>
              <a:buNone/>
              <a:defRPr sz="1200">
                <a:solidFill>
                  <a:srgbClr val="A7AF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>
                <a:solidFill>
                  <a:srgbClr val="A7AF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三视图</a:t>
            </a:r>
            <a:endParaRPr sz="1200">
              <a:solidFill>
                <a:srgbClr val="A7AF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9" name="图片 28"/>
          <p:cNvPicPr>
            <a:picLocks noChangeAspect="1"/>
          </p:cNvPicPr>
          <p:nvPr/>
        </p:nvPicPr>
        <p:blipFill>
          <a:blip r:embed="rId3"/>
          <a:srcRect t="39252" b="39252"/>
          <a:stretch>
            <a:fillRect/>
          </a:stretch>
        </p:blipFill>
        <p:spPr>
          <a:xfrm>
            <a:off x="609600" y="4088765"/>
            <a:ext cx="5219700" cy="2000250"/>
          </a:xfrm>
          <a:prstGeom prst="roundRect">
            <a:avLst>
              <a:gd name="adj" fmla="val 3810"/>
            </a:avLst>
          </a:prstGeom>
        </p:spPr>
      </p:pic>
      <p:sp>
        <p:nvSpPr>
          <p:cNvPr id="13" name="圆角矩形 12"/>
          <p:cNvSpPr>
            <a:spLocks noGrp="1"/>
          </p:cNvSpPr>
          <p:nvPr/>
        </p:nvSpPr>
        <p:spPr>
          <a:xfrm>
            <a:off x="609600" y="4088765"/>
            <a:ext cx="5219700" cy="2000250"/>
          </a:xfrm>
          <a:prstGeom prst="roundRect">
            <a:avLst>
              <a:gd name="adj" fmla="val 3810"/>
            </a:avLst>
          </a:prstGeom>
          <a:noFill/>
          <a:ln w="9525">
            <a:solidFill>
              <a:srgbClr val="2E3540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609600" y="6165215"/>
            <a:ext cx="5219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ctr">
              <a:lnSpc>
                <a:spcPct val="135000"/>
              </a:lnSpc>
              <a:buNone/>
              <a:defRPr sz="1200">
                <a:solidFill>
                  <a:srgbClr val="A7AF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>
                <a:solidFill>
                  <a:srgbClr val="A7AF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主界面</a:t>
            </a:r>
            <a:endParaRPr sz="1200">
              <a:solidFill>
                <a:srgbClr val="A7AF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2" name="图片 31"/>
          <p:cNvPicPr>
            <a:picLocks noChangeAspect="1"/>
          </p:cNvPicPr>
          <p:nvPr/>
        </p:nvPicPr>
        <p:blipFill>
          <a:blip r:embed="rId4"/>
          <a:srcRect t="13480" b="13480"/>
          <a:stretch>
            <a:fillRect/>
          </a:stretch>
        </p:blipFill>
        <p:spPr>
          <a:xfrm>
            <a:off x="6210300" y="4088765"/>
            <a:ext cx="5219700" cy="2000250"/>
          </a:xfrm>
          <a:prstGeom prst="roundRect">
            <a:avLst>
              <a:gd name="adj" fmla="val 3810"/>
            </a:avLst>
          </a:prstGeom>
        </p:spPr>
      </p:pic>
      <p:sp>
        <p:nvSpPr>
          <p:cNvPr id="16" name="圆角矩形 15"/>
          <p:cNvSpPr>
            <a:spLocks noGrp="1"/>
          </p:cNvSpPr>
          <p:nvPr/>
        </p:nvSpPr>
        <p:spPr>
          <a:xfrm>
            <a:off x="6210300" y="4088765"/>
            <a:ext cx="5219700" cy="2000250"/>
          </a:xfrm>
          <a:prstGeom prst="roundRect">
            <a:avLst>
              <a:gd name="adj" fmla="val 3810"/>
            </a:avLst>
          </a:prstGeom>
          <a:noFill/>
          <a:ln w="9525">
            <a:solidFill>
              <a:srgbClr val="2E3540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6210300" y="6165215"/>
            <a:ext cx="5219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ctr">
              <a:lnSpc>
                <a:spcPct val="135000"/>
              </a:lnSpc>
              <a:buNone/>
              <a:defRPr sz="1200">
                <a:solidFill>
                  <a:srgbClr val="A7AF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>
                <a:solidFill>
                  <a:srgbClr val="A7AF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拉新 Banner</a:t>
            </a:r>
            <a:endParaRPr sz="1200">
              <a:solidFill>
                <a:srgbClr val="A7AF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3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9" name="矩形 18"/>
          <p:cNvSpPr>
            <a:spLocks noGrp="1"/>
          </p:cNvSpPr>
          <p:nvPr/>
        </p:nvSpPr>
        <p:spPr>
          <a:xfrm>
            <a:off x="609600" y="438150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l">
              <a:lnSpc>
                <a:spcPct val="135000"/>
              </a:lnSpc>
              <a:buNone/>
              <a:defRPr sz="1350" b="1">
                <a:solidFill>
                  <a:srgbClr val="E8B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E8B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项目成果</a:t>
            </a:r>
            <a:endParaRPr sz="1350" b="1">
              <a:solidFill>
                <a:srgbClr val="E8B04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09600" y="742950"/>
            <a:ext cx="109728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l">
              <a:lnSpc>
                <a:spcPct val="135000"/>
              </a:lnSpc>
              <a:buNone/>
              <a:defRPr sz="2700" b="1">
                <a:solidFill>
                  <a:srgbClr val="F4F1E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1">
                <a:solidFill>
                  <a:srgbClr val="F4F1E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高频活动与商业化场景的完整覆盖</a:t>
            </a:r>
            <a:endParaRPr sz="2700" b="1">
              <a:solidFill>
                <a:srgbClr val="F4F1E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圆角矩形 2"/>
          <p:cNvSpPr>
            <a:spLocks noGrp="1"/>
          </p:cNvSpPr>
          <p:nvPr/>
        </p:nvSpPr>
        <p:spPr>
          <a:xfrm>
            <a:off x="609600" y="1428750"/>
            <a:ext cx="10972800" cy="9525"/>
          </a:xfrm>
          <a:prstGeom prst="roundRect">
            <a:avLst>
              <a:gd name="adj" fmla="val 50000"/>
            </a:avLst>
          </a:prstGeom>
          <a:solidFill>
            <a:srgbClr val="232A33"/>
          </a:solidFill>
          <a:ln w="9525">
            <a:noFill/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6438900"/>
            <a:ext cx="4572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l">
              <a:lnSpc>
                <a:spcPct val="135000"/>
              </a:lnSpc>
              <a:buNone/>
              <a:defRPr sz="1050">
                <a:solidFill>
                  <a:srgbClr val="6E76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>
                <a:solidFill>
                  <a:srgbClr val="6E76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张斌 · 游戏美术总监</a:t>
            </a:r>
            <a:endParaRPr sz="1050">
              <a:solidFill>
                <a:srgbClr val="6E768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1201400" y="6438900"/>
            <a:ext cx="4572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5000"/>
              </a:lnSpc>
              <a:buNone/>
              <a:defRPr sz="1050">
                <a:solidFill>
                  <a:srgbClr val="6E76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>
                <a:solidFill>
                  <a:srgbClr val="6E76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08</a:t>
            </a:r>
            <a:endParaRPr sz="1050">
              <a:solidFill>
                <a:srgbClr val="6E768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4" name="图片 2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t="4035" b="4035"/>
          <a:stretch>
            <a:fillRect/>
          </a:stretch>
        </p:blipFill>
        <p:spPr>
          <a:xfrm>
            <a:off x="609600" y="1733550"/>
            <a:ext cx="2095500" cy="3429000"/>
          </a:xfrm>
          <a:prstGeom prst="roundRect">
            <a:avLst>
              <a:gd name="adj" fmla="val 3636"/>
            </a:avLst>
          </a:prstGeom>
        </p:spPr>
      </p:pic>
      <p:sp>
        <p:nvSpPr>
          <p:cNvPr id="7" name="圆角矩形 6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609600" y="1733550"/>
            <a:ext cx="2095500" cy="3429000"/>
          </a:xfrm>
          <a:prstGeom prst="roundRect">
            <a:avLst>
              <a:gd name="adj" fmla="val 3636"/>
            </a:avLst>
          </a:prstGeom>
          <a:noFill/>
          <a:ln w="9525">
            <a:solidFill>
              <a:srgbClr val="2E3540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609600" y="523875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ctr">
              <a:lnSpc>
                <a:spcPct val="135000"/>
              </a:lnSpc>
              <a:buNone/>
              <a:defRPr sz="1200">
                <a:solidFill>
                  <a:srgbClr val="A7AF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>
                <a:solidFill>
                  <a:srgbClr val="A7AF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活动卡池</a:t>
            </a:r>
            <a:endParaRPr sz="1200">
              <a:solidFill>
                <a:srgbClr val="A7AF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7" name="图片 26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rcRect t="4000" b="4000"/>
          <a:stretch>
            <a:fillRect/>
          </a:stretch>
        </p:blipFill>
        <p:spPr>
          <a:xfrm>
            <a:off x="3009900" y="1733550"/>
            <a:ext cx="2095500" cy="3429000"/>
          </a:xfrm>
          <a:prstGeom prst="roundRect">
            <a:avLst>
              <a:gd name="adj" fmla="val 3636"/>
            </a:avLst>
          </a:prstGeom>
        </p:spPr>
      </p:pic>
      <p:sp>
        <p:nvSpPr>
          <p:cNvPr id="10" name="圆角矩形 9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3009900" y="1733550"/>
            <a:ext cx="2095500" cy="3429000"/>
          </a:xfrm>
          <a:prstGeom prst="roundRect">
            <a:avLst>
              <a:gd name="adj" fmla="val 3636"/>
            </a:avLst>
          </a:prstGeom>
          <a:noFill/>
          <a:ln w="9525">
            <a:solidFill>
              <a:srgbClr val="2E3540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3009900" y="523875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ctr">
              <a:lnSpc>
                <a:spcPct val="135000"/>
              </a:lnSpc>
              <a:buNone/>
              <a:defRPr sz="1200">
                <a:solidFill>
                  <a:srgbClr val="A7AF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>
                <a:solidFill>
                  <a:srgbClr val="A7AF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砸蛋活动</a:t>
            </a:r>
            <a:endParaRPr sz="1200">
              <a:solidFill>
                <a:srgbClr val="A7AF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0" name="图片 29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/>
          <a:srcRect t="4246" b="4246"/>
          <a:stretch>
            <a:fillRect/>
          </a:stretch>
        </p:blipFill>
        <p:spPr>
          <a:xfrm>
            <a:off x="5410200" y="1733550"/>
            <a:ext cx="2095500" cy="3429000"/>
          </a:xfrm>
          <a:prstGeom prst="roundRect">
            <a:avLst>
              <a:gd name="adj" fmla="val 3636"/>
            </a:avLst>
          </a:prstGeom>
        </p:spPr>
      </p:pic>
      <p:sp>
        <p:nvSpPr>
          <p:cNvPr id="13" name="圆角矩形 12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5410200" y="1733550"/>
            <a:ext cx="2095500" cy="3429000"/>
          </a:xfrm>
          <a:prstGeom prst="roundRect">
            <a:avLst>
              <a:gd name="adj" fmla="val 3636"/>
            </a:avLst>
          </a:prstGeom>
          <a:noFill/>
          <a:ln w="9525">
            <a:solidFill>
              <a:srgbClr val="2E3540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5410200" y="523875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ctr">
              <a:lnSpc>
                <a:spcPct val="135000"/>
              </a:lnSpc>
              <a:buNone/>
              <a:defRPr sz="1200">
                <a:solidFill>
                  <a:srgbClr val="A7AF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>
                <a:solidFill>
                  <a:srgbClr val="A7AF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雪球挑战</a:t>
            </a:r>
            <a:endParaRPr sz="1200">
              <a:solidFill>
                <a:srgbClr val="A7AF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8077200" y="1733550"/>
            <a:ext cx="3505200" cy="3733800"/>
          </a:xfrm>
          <a:prstGeom prst="roundRect">
            <a:avLst>
              <a:gd name="adj" fmla="val 2174"/>
            </a:avLst>
          </a:prstGeom>
          <a:solidFill>
            <a:srgbClr val="171C22"/>
          </a:solidFill>
          <a:ln w="9525">
            <a:solidFill>
              <a:srgbClr val="2A3038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8382000" y="2000250"/>
            <a:ext cx="28956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l">
              <a:lnSpc>
                <a:spcPct val="135000"/>
              </a:lnSpc>
              <a:buNone/>
              <a:defRPr sz="1800" b="1">
                <a:solidFill>
                  <a:srgbClr val="E8B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E8B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运营与商业化视觉</a:t>
            </a:r>
            <a:endParaRPr sz="1800" b="1">
              <a:solidFill>
                <a:srgbClr val="E8B04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8382000" y="2533650"/>
            <a:ext cx="28956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  <a:buNone/>
              <a:defRPr sz="1350">
                <a:solidFill>
                  <a:srgbClr val="D8DCE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>
                <a:solidFill>
                  <a:srgbClr val="D8DCE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覆盖活动主界面、玩法点位、结算反馈与礼包展示，兼顾视觉吸引与转化路径。</a:t>
            </a:r>
            <a:endParaRPr sz="1350">
              <a:solidFill>
                <a:srgbClr val="D8DCE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8382000" y="4305300"/>
            <a:ext cx="28956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l">
              <a:lnSpc>
                <a:spcPct val="145000"/>
              </a:lnSpc>
              <a:buNone/>
              <a:defRPr sz="1350">
                <a:solidFill>
                  <a:srgbClr val="C6C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>
                <a:solidFill>
                  <a:srgbClr val="C6C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支持高频活动快速落地，让美术节奏跟上运营节奏。</a:t>
            </a:r>
            <a:endParaRPr sz="1350">
              <a:solidFill>
                <a:srgbClr val="C6CCD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3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9" name="矩形 18"/>
          <p:cNvSpPr>
            <a:spLocks noGrp="1"/>
          </p:cNvSpPr>
          <p:nvPr/>
        </p:nvSpPr>
        <p:spPr>
          <a:xfrm>
            <a:off x="609600" y="438150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l">
              <a:lnSpc>
                <a:spcPct val="135000"/>
              </a:lnSpc>
              <a:buNone/>
              <a:defRPr sz="1350" b="1">
                <a:solidFill>
                  <a:srgbClr val="E8B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E8B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/ 冰川网络</a:t>
            </a:r>
            <a:endParaRPr sz="1350" b="1">
              <a:solidFill>
                <a:srgbClr val="E8B04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09600" y="742950"/>
            <a:ext cx="109728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l">
              <a:lnSpc>
                <a:spcPct val="135000"/>
              </a:lnSpc>
              <a:buNone/>
              <a:defRPr sz="2700" b="1">
                <a:solidFill>
                  <a:srgbClr val="F4F1E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1">
                <a:solidFill>
                  <a:srgbClr val="F4F1E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悠星大陆 · 大世界</a:t>
            </a:r>
            <a:r>
              <a:rPr lang="zh-CN" sz="2700" b="1">
                <a:solidFill>
                  <a:srgbClr val="F4F1E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项目工业化流程</a:t>
            </a:r>
            <a:r>
              <a:rPr lang="en-US" altLang="zh-CN" sz="2700" b="1">
                <a:solidFill>
                  <a:srgbClr val="F4F1E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0-1</a:t>
            </a:r>
            <a:endParaRPr lang="en-US" altLang="zh-CN" sz="2700" b="1">
              <a:solidFill>
                <a:srgbClr val="F4F1E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圆角矩形 2"/>
          <p:cNvSpPr>
            <a:spLocks noGrp="1"/>
          </p:cNvSpPr>
          <p:nvPr/>
        </p:nvSpPr>
        <p:spPr>
          <a:xfrm>
            <a:off x="609600" y="1428750"/>
            <a:ext cx="10972800" cy="9525"/>
          </a:xfrm>
          <a:prstGeom prst="roundRect">
            <a:avLst>
              <a:gd name="adj" fmla="val 50000"/>
            </a:avLst>
          </a:prstGeom>
          <a:solidFill>
            <a:srgbClr val="232A33"/>
          </a:solidFill>
          <a:ln w="9525">
            <a:noFill/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6438900"/>
            <a:ext cx="4572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l">
              <a:lnSpc>
                <a:spcPct val="135000"/>
              </a:lnSpc>
              <a:buNone/>
              <a:defRPr sz="1050">
                <a:solidFill>
                  <a:srgbClr val="6E76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>
                <a:solidFill>
                  <a:srgbClr val="6E76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项目成果</a:t>
            </a:r>
            <a:endParaRPr sz="1050">
              <a:solidFill>
                <a:srgbClr val="6E768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1201400" y="6438900"/>
            <a:ext cx="4572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5000"/>
              </a:lnSpc>
              <a:buNone/>
              <a:defRPr sz="1050">
                <a:solidFill>
                  <a:srgbClr val="6E76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>
                <a:solidFill>
                  <a:srgbClr val="6E76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09</a:t>
            </a:r>
            <a:endParaRPr sz="1050">
              <a:solidFill>
                <a:srgbClr val="6E768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609600" y="1714500"/>
            <a:ext cx="38100" cy="247650"/>
          </a:xfrm>
          <a:prstGeom prst="roundRect">
            <a:avLst>
              <a:gd name="adj" fmla="val 50000"/>
            </a:avLst>
          </a:prstGeom>
          <a:solidFill>
            <a:srgbClr val="E8B04B"/>
          </a:solidFill>
          <a:ln w="9525">
            <a:noFill/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781050" y="1695450"/>
            <a:ext cx="5905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l">
              <a:lnSpc>
                <a:spcPct val="135000"/>
              </a:lnSpc>
              <a:buNone/>
              <a:defRPr sz="1275" b="1">
                <a:solidFill>
                  <a:srgbClr val="F2C9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F2C9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2020.09 - 2024.10 ｜ 角色</a:t>
            </a:r>
            <a:r>
              <a:rPr lang="zh-CN" sz="1275" b="1">
                <a:solidFill>
                  <a:srgbClr val="F2C9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接口人</a:t>
            </a:r>
            <a:r>
              <a:rPr sz="1275" b="1">
                <a:solidFill>
                  <a:srgbClr val="F2C9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资深角色原画 ｜ 美术中心原画主管</a:t>
            </a:r>
            <a:endParaRPr sz="1275" b="1">
              <a:solidFill>
                <a:srgbClr val="F2C97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76300" y="2247900"/>
            <a:ext cx="209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ctr">
              <a:lnSpc>
                <a:spcPct val="135000"/>
              </a:lnSpc>
              <a:buNone/>
              <a:defRPr sz="1050" b="1">
                <a:solidFill>
                  <a:srgbClr val="E8B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E8B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◆</a:t>
            </a:r>
            <a:endParaRPr sz="1050" b="1">
              <a:solidFill>
                <a:srgbClr val="E8B04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1162050" y="2247900"/>
            <a:ext cx="5353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l">
              <a:lnSpc>
                <a:spcPct val="130000"/>
              </a:lnSpc>
              <a:buNone/>
              <a:defRPr sz="1500">
                <a:solidFill>
                  <a:srgbClr val="D8DCE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>
                <a:solidFill>
                  <a:srgbClr val="D8DCE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前期美术风格孵化与方向定义</a:t>
            </a:r>
            <a:endParaRPr sz="1500">
              <a:solidFill>
                <a:srgbClr val="D8DCE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876300" y="2743200"/>
            <a:ext cx="209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ctr">
              <a:lnSpc>
                <a:spcPct val="135000"/>
              </a:lnSpc>
              <a:buNone/>
              <a:defRPr sz="1050" b="1">
                <a:solidFill>
                  <a:srgbClr val="E8B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E8B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◆</a:t>
            </a:r>
            <a:endParaRPr sz="1050" b="1">
              <a:solidFill>
                <a:srgbClr val="E8B04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1162050" y="2743200"/>
            <a:ext cx="5353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l">
              <a:lnSpc>
                <a:spcPct val="130000"/>
              </a:lnSpc>
              <a:buNone/>
              <a:defRPr sz="1500">
                <a:solidFill>
                  <a:srgbClr val="D8DCE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>
                <a:solidFill>
                  <a:srgbClr val="D8DCE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角色设计与制作规范、标准制定</a:t>
            </a:r>
            <a:endParaRPr sz="1500">
              <a:solidFill>
                <a:srgbClr val="D8DCE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876300" y="3238500"/>
            <a:ext cx="209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ctr">
              <a:lnSpc>
                <a:spcPct val="135000"/>
              </a:lnSpc>
              <a:buNone/>
              <a:defRPr sz="1050" b="1">
                <a:solidFill>
                  <a:srgbClr val="E8B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E8B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◆</a:t>
            </a:r>
            <a:endParaRPr sz="1050" b="1">
              <a:solidFill>
                <a:srgbClr val="E8B04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1162050" y="3238500"/>
            <a:ext cx="5353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l">
              <a:lnSpc>
                <a:spcPct val="130000"/>
              </a:lnSpc>
              <a:buNone/>
              <a:defRPr sz="1500">
                <a:solidFill>
                  <a:srgbClr val="D8DCE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>
                <a:solidFill>
                  <a:srgbClr val="D8DCE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核心角色原画设计</a:t>
            </a:r>
            <a:endParaRPr sz="1500">
              <a:solidFill>
                <a:srgbClr val="D8DCE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876300" y="3733800"/>
            <a:ext cx="209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ctr">
              <a:lnSpc>
                <a:spcPct val="135000"/>
              </a:lnSpc>
              <a:buNone/>
              <a:defRPr sz="1050" b="1">
                <a:solidFill>
                  <a:srgbClr val="E8B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E8B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◆</a:t>
            </a:r>
            <a:endParaRPr sz="1050" b="1">
              <a:solidFill>
                <a:srgbClr val="E8B04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1162050" y="3733800"/>
            <a:ext cx="5353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l">
              <a:lnSpc>
                <a:spcPct val="130000"/>
              </a:lnSpc>
              <a:buNone/>
              <a:defRPr sz="1500">
                <a:solidFill>
                  <a:srgbClr val="D8DCE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>
                <a:solidFill>
                  <a:srgbClr val="D8DCE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CP 资源对接与美术中台管理</a:t>
            </a:r>
            <a:endParaRPr sz="1500">
              <a:solidFill>
                <a:srgbClr val="D8DCE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09600" y="5467350"/>
            <a:ext cx="59055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l">
              <a:lnSpc>
                <a:spcPct val="140000"/>
              </a:lnSpc>
              <a:buNone/>
              <a:defRPr sz="1350">
                <a:solidFill>
                  <a:srgbClr val="C6C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>
                <a:solidFill>
                  <a:srgbClr val="C6C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以规范和管线支撑开放世界海量角色的稳定产出。</a:t>
            </a:r>
            <a:endParaRPr sz="1350">
              <a:solidFill>
                <a:srgbClr val="C6CCD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5" name="图片 34"/>
          <p:cNvPicPr>
            <a:picLocks noChangeAspect="1"/>
          </p:cNvPicPr>
          <p:nvPr/>
        </p:nvPicPr>
        <p:blipFill>
          <a:blip r:embed="rId9"/>
          <a:srcRect l="24315" r="24315"/>
          <a:stretch>
            <a:fillRect/>
          </a:stretch>
        </p:blipFill>
        <p:spPr>
          <a:xfrm>
            <a:off x="7429500" y="1695450"/>
            <a:ext cx="4152900" cy="4476750"/>
          </a:xfrm>
          <a:prstGeom prst="roundRect">
            <a:avLst>
              <a:gd name="adj" fmla="val 1835"/>
            </a:avLst>
          </a:prstGeom>
        </p:spPr>
      </p:pic>
      <p:sp>
        <p:nvSpPr>
          <p:cNvPr id="18" name="圆角矩形 17"/>
          <p:cNvSpPr>
            <a:spLocks noGrp="1"/>
          </p:cNvSpPr>
          <p:nvPr/>
        </p:nvSpPr>
        <p:spPr>
          <a:xfrm>
            <a:off x="7429500" y="1695450"/>
            <a:ext cx="4152900" cy="4476750"/>
          </a:xfrm>
          <a:prstGeom prst="roundRect">
            <a:avLst>
              <a:gd name="adj" fmla="val 1835"/>
            </a:avLst>
          </a:prstGeom>
          <a:noFill/>
          <a:ln w="9525">
            <a:solidFill>
              <a:srgbClr val="2E3540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3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8" name="矩形 17"/>
          <p:cNvSpPr>
            <a:spLocks noGrp="1"/>
          </p:cNvSpPr>
          <p:nvPr/>
        </p:nvSpPr>
        <p:spPr>
          <a:xfrm>
            <a:off x="609600" y="438150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l">
              <a:lnSpc>
                <a:spcPct val="135000"/>
              </a:lnSpc>
              <a:buNone/>
              <a:defRPr sz="1350" b="1">
                <a:solidFill>
                  <a:srgbClr val="E8B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E8B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项目成果</a:t>
            </a:r>
            <a:endParaRPr sz="1350" b="1">
              <a:solidFill>
                <a:srgbClr val="E8B04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09600" y="742950"/>
            <a:ext cx="109728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l">
              <a:lnSpc>
                <a:spcPct val="135000"/>
              </a:lnSpc>
              <a:buNone/>
              <a:defRPr sz="2700" b="1">
                <a:solidFill>
                  <a:srgbClr val="F4F1E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1">
                <a:solidFill>
                  <a:srgbClr val="F4F1E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开放世界的角色、怪物与 NPC 体系</a:t>
            </a:r>
            <a:endParaRPr sz="2700" b="1">
              <a:solidFill>
                <a:srgbClr val="F4F1E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圆角矩形 2"/>
          <p:cNvSpPr>
            <a:spLocks noGrp="1"/>
          </p:cNvSpPr>
          <p:nvPr/>
        </p:nvSpPr>
        <p:spPr>
          <a:xfrm>
            <a:off x="609600" y="1428750"/>
            <a:ext cx="10972800" cy="9525"/>
          </a:xfrm>
          <a:prstGeom prst="roundRect">
            <a:avLst>
              <a:gd name="adj" fmla="val 50000"/>
            </a:avLst>
          </a:prstGeom>
          <a:solidFill>
            <a:srgbClr val="232A33"/>
          </a:solidFill>
          <a:ln w="9525">
            <a:noFill/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6438900"/>
            <a:ext cx="4572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l">
              <a:lnSpc>
                <a:spcPct val="135000"/>
              </a:lnSpc>
              <a:buNone/>
              <a:defRPr sz="1050">
                <a:solidFill>
                  <a:srgbClr val="6E76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>
                <a:solidFill>
                  <a:srgbClr val="6E76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张斌 · 游戏美术总监</a:t>
            </a:r>
            <a:endParaRPr sz="1050">
              <a:solidFill>
                <a:srgbClr val="6E768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1201400" y="6438900"/>
            <a:ext cx="4572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5000"/>
              </a:lnSpc>
              <a:buNone/>
              <a:defRPr sz="1050">
                <a:solidFill>
                  <a:srgbClr val="6E76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>
                <a:solidFill>
                  <a:srgbClr val="6E76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</a:t>
            </a:r>
            <a:endParaRPr sz="1050">
              <a:solidFill>
                <a:srgbClr val="6E768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1"/>
          <a:srcRect t="15937" b="15937"/>
          <a:stretch>
            <a:fillRect/>
          </a:stretch>
        </p:blipFill>
        <p:spPr>
          <a:xfrm>
            <a:off x="609600" y="1600200"/>
            <a:ext cx="5219700" cy="2000250"/>
          </a:xfrm>
          <a:prstGeom prst="roundRect">
            <a:avLst>
              <a:gd name="adj" fmla="val 3810"/>
            </a:avLst>
          </a:prstGeom>
        </p:spPr>
      </p:pic>
      <p:sp>
        <p:nvSpPr>
          <p:cNvPr id="7" name="圆角矩形 6"/>
          <p:cNvSpPr>
            <a:spLocks noGrp="1"/>
          </p:cNvSpPr>
          <p:nvPr/>
        </p:nvSpPr>
        <p:spPr>
          <a:xfrm>
            <a:off x="609600" y="1600200"/>
            <a:ext cx="5219700" cy="2000250"/>
          </a:xfrm>
          <a:prstGeom prst="roundRect">
            <a:avLst>
              <a:gd name="adj" fmla="val 3810"/>
            </a:avLst>
          </a:prstGeom>
          <a:noFill/>
          <a:ln w="9525">
            <a:solidFill>
              <a:srgbClr val="2E3540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609600" y="3676650"/>
            <a:ext cx="5219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ctr">
              <a:lnSpc>
                <a:spcPct val="135000"/>
              </a:lnSpc>
              <a:buNone/>
              <a:defRPr sz="1200">
                <a:solidFill>
                  <a:srgbClr val="A7AF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>
                <a:solidFill>
                  <a:srgbClr val="A7AF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关卡怪物</a:t>
            </a:r>
            <a:endParaRPr sz="1200">
              <a:solidFill>
                <a:srgbClr val="A7AF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6" name="图片 25"/>
          <p:cNvPicPr>
            <a:picLocks noChangeAspect="1"/>
          </p:cNvPicPr>
          <p:nvPr/>
        </p:nvPicPr>
        <p:blipFill>
          <a:blip r:embed="rId2"/>
          <a:srcRect t="15937" b="15937"/>
          <a:stretch>
            <a:fillRect/>
          </a:stretch>
        </p:blipFill>
        <p:spPr>
          <a:xfrm>
            <a:off x="6210300" y="1600200"/>
            <a:ext cx="5219700" cy="2000250"/>
          </a:xfrm>
          <a:prstGeom prst="roundRect">
            <a:avLst>
              <a:gd name="adj" fmla="val 3810"/>
            </a:avLst>
          </a:prstGeom>
        </p:spPr>
      </p:pic>
      <p:sp>
        <p:nvSpPr>
          <p:cNvPr id="10" name="圆角矩形 9"/>
          <p:cNvSpPr>
            <a:spLocks noGrp="1"/>
          </p:cNvSpPr>
          <p:nvPr/>
        </p:nvSpPr>
        <p:spPr>
          <a:xfrm>
            <a:off x="6210300" y="1600200"/>
            <a:ext cx="5219700" cy="2000250"/>
          </a:xfrm>
          <a:prstGeom prst="roundRect">
            <a:avLst>
              <a:gd name="adj" fmla="val 3810"/>
            </a:avLst>
          </a:prstGeom>
          <a:noFill/>
          <a:ln w="9525">
            <a:solidFill>
              <a:srgbClr val="2E3540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6210300" y="3676650"/>
            <a:ext cx="5219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ctr">
              <a:lnSpc>
                <a:spcPct val="135000"/>
              </a:lnSpc>
              <a:buNone/>
              <a:defRPr sz="1200">
                <a:solidFill>
                  <a:srgbClr val="A7AF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>
                <a:solidFill>
                  <a:srgbClr val="A7AF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野外怪物</a:t>
            </a:r>
            <a:endParaRPr sz="1200">
              <a:solidFill>
                <a:srgbClr val="A7AF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9" name="图片 28"/>
          <p:cNvPicPr>
            <a:picLocks noChangeAspect="1"/>
          </p:cNvPicPr>
          <p:nvPr/>
        </p:nvPicPr>
        <p:blipFill>
          <a:blip r:embed="rId3"/>
          <a:srcRect t="10792" b="10792"/>
          <a:stretch>
            <a:fillRect/>
          </a:stretch>
        </p:blipFill>
        <p:spPr>
          <a:xfrm>
            <a:off x="609600" y="4078605"/>
            <a:ext cx="5219700" cy="2000250"/>
          </a:xfrm>
          <a:prstGeom prst="roundRect">
            <a:avLst>
              <a:gd name="adj" fmla="val 3810"/>
            </a:avLst>
          </a:prstGeom>
        </p:spPr>
      </p:pic>
      <p:sp>
        <p:nvSpPr>
          <p:cNvPr id="13" name="圆角矩形 12"/>
          <p:cNvSpPr>
            <a:spLocks noGrp="1"/>
          </p:cNvSpPr>
          <p:nvPr/>
        </p:nvSpPr>
        <p:spPr>
          <a:xfrm>
            <a:off x="609600" y="4077335"/>
            <a:ext cx="5219700" cy="2000250"/>
          </a:xfrm>
          <a:prstGeom prst="roundRect">
            <a:avLst>
              <a:gd name="adj" fmla="val 3810"/>
            </a:avLst>
          </a:prstGeom>
          <a:noFill/>
          <a:ln w="9525">
            <a:solidFill>
              <a:srgbClr val="2E3540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609600" y="6153785"/>
            <a:ext cx="5219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ctr">
              <a:lnSpc>
                <a:spcPct val="135000"/>
              </a:lnSpc>
              <a:buNone/>
              <a:defRPr sz="1200">
                <a:solidFill>
                  <a:srgbClr val="A7AF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>
                <a:solidFill>
                  <a:srgbClr val="A7AF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精英怪</a:t>
            </a:r>
            <a:endParaRPr sz="1200">
              <a:solidFill>
                <a:srgbClr val="A7AF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2" name="图片 31"/>
          <p:cNvPicPr>
            <a:picLocks noChangeAspect="1"/>
          </p:cNvPicPr>
          <p:nvPr/>
        </p:nvPicPr>
        <p:blipFill>
          <a:blip r:embed="rId4"/>
          <a:srcRect t="11117" b="11117"/>
          <a:stretch>
            <a:fillRect/>
          </a:stretch>
        </p:blipFill>
        <p:spPr>
          <a:xfrm>
            <a:off x="6210300" y="4077335"/>
            <a:ext cx="5219700" cy="2000250"/>
          </a:xfrm>
          <a:prstGeom prst="roundRect">
            <a:avLst>
              <a:gd name="adj" fmla="val 3810"/>
            </a:avLst>
          </a:prstGeom>
        </p:spPr>
      </p:pic>
      <p:sp>
        <p:nvSpPr>
          <p:cNvPr id="16" name="圆角矩形 15"/>
          <p:cNvSpPr>
            <a:spLocks noGrp="1"/>
          </p:cNvSpPr>
          <p:nvPr/>
        </p:nvSpPr>
        <p:spPr>
          <a:xfrm>
            <a:off x="6210300" y="4077335"/>
            <a:ext cx="5219700" cy="2000250"/>
          </a:xfrm>
          <a:prstGeom prst="roundRect">
            <a:avLst>
              <a:gd name="adj" fmla="val 3810"/>
            </a:avLst>
          </a:prstGeom>
          <a:noFill/>
          <a:ln w="9525">
            <a:solidFill>
              <a:srgbClr val="2E3540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6210300" y="6153785"/>
            <a:ext cx="5219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ctr">
              <a:lnSpc>
                <a:spcPct val="135000"/>
              </a:lnSpc>
              <a:buNone/>
              <a:defRPr sz="1200">
                <a:solidFill>
                  <a:srgbClr val="A7AF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>
                <a:solidFill>
                  <a:srgbClr val="A7AF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NPC</a:t>
            </a:r>
            <a:endParaRPr sz="1200">
              <a:solidFill>
                <a:srgbClr val="A7AF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3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9" name="矩形 18"/>
          <p:cNvSpPr>
            <a:spLocks noGrp="1"/>
          </p:cNvSpPr>
          <p:nvPr/>
        </p:nvSpPr>
        <p:spPr>
          <a:xfrm>
            <a:off x="609600" y="438150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l">
              <a:lnSpc>
                <a:spcPct val="135000"/>
              </a:lnSpc>
              <a:buNone/>
              <a:defRPr sz="1350" b="1">
                <a:solidFill>
                  <a:srgbClr val="E8B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E8B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项目成果</a:t>
            </a:r>
            <a:endParaRPr sz="1350" b="1">
              <a:solidFill>
                <a:srgbClr val="E8B04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09600" y="742950"/>
            <a:ext cx="109728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l">
              <a:lnSpc>
                <a:spcPct val="135000"/>
              </a:lnSpc>
              <a:buNone/>
              <a:defRPr sz="2700" b="1">
                <a:solidFill>
                  <a:srgbClr val="F4F1E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1">
                <a:solidFill>
                  <a:srgbClr val="F4F1E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从体型体系到生产规范，建立可复用角色管线</a:t>
            </a:r>
            <a:endParaRPr sz="2700" b="1">
              <a:solidFill>
                <a:srgbClr val="F4F1E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圆角矩形 2"/>
          <p:cNvSpPr>
            <a:spLocks noGrp="1"/>
          </p:cNvSpPr>
          <p:nvPr/>
        </p:nvSpPr>
        <p:spPr>
          <a:xfrm>
            <a:off x="609600" y="1428750"/>
            <a:ext cx="10972800" cy="9525"/>
          </a:xfrm>
          <a:prstGeom prst="roundRect">
            <a:avLst>
              <a:gd name="adj" fmla="val 50000"/>
            </a:avLst>
          </a:prstGeom>
          <a:solidFill>
            <a:srgbClr val="232A33"/>
          </a:solidFill>
          <a:ln w="9525">
            <a:noFill/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6438900"/>
            <a:ext cx="4572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l">
              <a:lnSpc>
                <a:spcPct val="135000"/>
              </a:lnSpc>
              <a:buNone/>
              <a:defRPr sz="1050">
                <a:solidFill>
                  <a:srgbClr val="6E76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>
                <a:solidFill>
                  <a:srgbClr val="6E76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张斌 · 游戏美术总监</a:t>
            </a:r>
            <a:endParaRPr sz="1050">
              <a:solidFill>
                <a:srgbClr val="6E768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1201400" y="6438900"/>
            <a:ext cx="4572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5000"/>
              </a:lnSpc>
              <a:buNone/>
              <a:defRPr sz="1050">
                <a:solidFill>
                  <a:srgbClr val="6E76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>
                <a:solidFill>
                  <a:srgbClr val="6E76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</a:t>
            </a:r>
            <a:endParaRPr sz="1050">
              <a:solidFill>
                <a:srgbClr val="6E768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4" name="图片 2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t="15937" b="15937"/>
          <a:stretch>
            <a:fillRect/>
          </a:stretch>
        </p:blipFill>
        <p:spPr>
          <a:xfrm>
            <a:off x="609600" y="1600200"/>
            <a:ext cx="5219700" cy="2000250"/>
          </a:xfrm>
          <a:prstGeom prst="roundRect">
            <a:avLst>
              <a:gd name="adj" fmla="val 3810"/>
            </a:avLst>
          </a:prstGeom>
        </p:spPr>
      </p:pic>
      <p:sp>
        <p:nvSpPr>
          <p:cNvPr id="7" name="圆角矩形 6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609600" y="1600200"/>
            <a:ext cx="5219700" cy="2000250"/>
          </a:xfrm>
          <a:prstGeom prst="roundRect">
            <a:avLst>
              <a:gd name="adj" fmla="val 3810"/>
            </a:avLst>
          </a:prstGeom>
          <a:noFill/>
          <a:ln w="9525">
            <a:solidFill>
              <a:srgbClr val="2E3540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609600" y="3500755"/>
            <a:ext cx="5219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ctr">
              <a:lnSpc>
                <a:spcPct val="135000"/>
              </a:lnSpc>
              <a:buNone/>
              <a:defRPr sz="1200">
                <a:solidFill>
                  <a:srgbClr val="A7AF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>
                <a:solidFill>
                  <a:srgbClr val="A7AF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基础体型</a:t>
            </a:r>
            <a:endParaRPr sz="1200">
              <a:solidFill>
                <a:srgbClr val="A7AF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7" name="图片 26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rcRect t="15937" b="15937"/>
          <a:stretch>
            <a:fillRect/>
          </a:stretch>
        </p:blipFill>
        <p:spPr>
          <a:xfrm>
            <a:off x="6210300" y="1600200"/>
            <a:ext cx="5219700" cy="2000250"/>
          </a:xfrm>
          <a:prstGeom prst="roundRect">
            <a:avLst>
              <a:gd name="adj" fmla="val 3810"/>
            </a:avLst>
          </a:prstGeom>
        </p:spPr>
      </p:pic>
      <p:sp>
        <p:nvSpPr>
          <p:cNvPr id="10" name="圆角矩形 9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6210300" y="1600200"/>
            <a:ext cx="5219700" cy="2000250"/>
          </a:xfrm>
          <a:prstGeom prst="roundRect">
            <a:avLst>
              <a:gd name="adj" fmla="val 3810"/>
            </a:avLst>
          </a:prstGeom>
          <a:noFill/>
          <a:ln w="9525">
            <a:solidFill>
              <a:srgbClr val="2E3540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6210300" y="3500755"/>
            <a:ext cx="5219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ctr">
              <a:lnSpc>
                <a:spcPct val="135000"/>
              </a:lnSpc>
              <a:buNone/>
              <a:defRPr sz="1200">
                <a:solidFill>
                  <a:srgbClr val="A7AF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>
                <a:solidFill>
                  <a:srgbClr val="A7AF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通用体型</a:t>
            </a:r>
            <a:endParaRPr sz="1200">
              <a:solidFill>
                <a:srgbClr val="A7AF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0" name="图片 29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/>
          <a:srcRect t="15937" b="15937"/>
          <a:stretch>
            <a:fillRect/>
          </a:stretch>
        </p:blipFill>
        <p:spPr>
          <a:xfrm>
            <a:off x="609600" y="3829050"/>
            <a:ext cx="5219700" cy="2000250"/>
          </a:xfrm>
          <a:prstGeom prst="roundRect">
            <a:avLst>
              <a:gd name="adj" fmla="val 3810"/>
            </a:avLst>
          </a:prstGeom>
        </p:spPr>
      </p:pic>
      <p:sp>
        <p:nvSpPr>
          <p:cNvPr id="13" name="圆角矩形 12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609600" y="3829050"/>
            <a:ext cx="5219700" cy="2000250"/>
          </a:xfrm>
          <a:prstGeom prst="roundRect">
            <a:avLst>
              <a:gd name="adj" fmla="val 3810"/>
            </a:avLst>
          </a:prstGeom>
          <a:noFill/>
          <a:ln w="9525">
            <a:solidFill>
              <a:srgbClr val="2E3540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609600" y="5905500"/>
            <a:ext cx="5219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ctr">
              <a:lnSpc>
                <a:spcPct val="135000"/>
              </a:lnSpc>
              <a:buNone/>
              <a:defRPr sz="1200">
                <a:solidFill>
                  <a:srgbClr val="A7AF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>
                <a:solidFill>
                  <a:srgbClr val="A7AF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流程制定</a:t>
            </a:r>
            <a:endParaRPr sz="1200">
              <a:solidFill>
                <a:srgbClr val="A7AF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3" name="图片 32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/>
          <a:srcRect t="15937" b="15937"/>
          <a:stretch>
            <a:fillRect/>
          </a:stretch>
        </p:blipFill>
        <p:spPr>
          <a:xfrm>
            <a:off x="6210300" y="3829050"/>
            <a:ext cx="5219700" cy="2000250"/>
          </a:xfrm>
          <a:prstGeom prst="roundRect">
            <a:avLst>
              <a:gd name="adj" fmla="val 3810"/>
            </a:avLst>
          </a:prstGeom>
        </p:spPr>
      </p:pic>
      <p:sp>
        <p:nvSpPr>
          <p:cNvPr id="16" name="圆角矩形 15"/>
          <p:cNvSpPr>
            <a:spLocks noGrp="1"/>
          </p:cNvSpPr>
          <p:nvPr>
            <p:custDataLst>
              <p:tags r:id="rId15"/>
            </p:custDataLst>
          </p:nvPr>
        </p:nvSpPr>
        <p:spPr>
          <a:xfrm>
            <a:off x="6210300" y="3829050"/>
            <a:ext cx="5219700" cy="2000250"/>
          </a:xfrm>
          <a:prstGeom prst="roundRect">
            <a:avLst>
              <a:gd name="adj" fmla="val 3810"/>
            </a:avLst>
          </a:prstGeom>
          <a:noFill/>
          <a:ln w="9525">
            <a:solidFill>
              <a:srgbClr val="2E3540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>
            <p:custDataLst>
              <p:tags r:id="rId16"/>
            </p:custDataLst>
          </p:nvPr>
        </p:nvSpPr>
        <p:spPr>
          <a:xfrm>
            <a:off x="6210300" y="5905500"/>
            <a:ext cx="5219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ctr">
              <a:lnSpc>
                <a:spcPct val="135000"/>
              </a:lnSpc>
              <a:buNone/>
              <a:defRPr sz="1200">
                <a:solidFill>
                  <a:srgbClr val="A7AF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>
                <a:solidFill>
                  <a:srgbClr val="A7AF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落地把控</a:t>
            </a:r>
            <a:endParaRPr sz="1200">
              <a:solidFill>
                <a:srgbClr val="A7AF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09600" y="6172200"/>
            <a:ext cx="10972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ctr">
              <a:lnSpc>
                <a:spcPct val="135000"/>
              </a:lnSpc>
              <a:buNone/>
              <a:defRPr sz="1200">
                <a:solidFill>
                  <a:srgbClr val="A7AF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>
                <a:solidFill>
                  <a:srgbClr val="A7AF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体型规划、流程制定与规范文档，支撑团队规模化产出。</a:t>
            </a:r>
            <a:endParaRPr sz="1200">
              <a:solidFill>
                <a:srgbClr val="A7AF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3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3" name="矩形 22"/>
          <p:cNvSpPr>
            <a:spLocks noGrp="1"/>
          </p:cNvSpPr>
          <p:nvPr/>
        </p:nvSpPr>
        <p:spPr>
          <a:xfrm>
            <a:off x="609600" y="438150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l">
              <a:lnSpc>
                <a:spcPct val="135000"/>
              </a:lnSpc>
              <a:buNone/>
              <a:defRPr sz="1350" b="1">
                <a:solidFill>
                  <a:srgbClr val="E8B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E8B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/ 淘乐网络</a:t>
            </a:r>
            <a:endParaRPr sz="1350" b="1">
              <a:solidFill>
                <a:srgbClr val="E8B04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09600" y="742950"/>
            <a:ext cx="109728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l">
              <a:lnSpc>
                <a:spcPct val="135000"/>
              </a:lnSpc>
              <a:buNone/>
              <a:defRPr sz="2700" b="1">
                <a:solidFill>
                  <a:srgbClr val="F4F1E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1">
                <a:solidFill>
                  <a:srgbClr val="F4F1E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桃花源记 &amp; 少年仙侠传 · 主美统筹国风 Q 版回合制</a:t>
            </a:r>
            <a:endParaRPr sz="2700" b="1">
              <a:solidFill>
                <a:srgbClr val="F4F1E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圆角矩形 2"/>
          <p:cNvSpPr>
            <a:spLocks noGrp="1"/>
          </p:cNvSpPr>
          <p:nvPr/>
        </p:nvSpPr>
        <p:spPr>
          <a:xfrm>
            <a:off x="609600" y="1428750"/>
            <a:ext cx="10972800" cy="9525"/>
          </a:xfrm>
          <a:prstGeom prst="roundRect">
            <a:avLst>
              <a:gd name="adj" fmla="val 50000"/>
            </a:avLst>
          </a:prstGeom>
          <a:solidFill>
            <a:srgbClr val="232A33"/>
          </a:solidFill>
          <a:ln w="9525">
            <a:noFill/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6438900"/>
            <a:ext cx="4572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l">
              <a:lnSpc>
                <a:spcPct val="135000"/>
              </a:lnSpc>
              <a:buNone/>
              <a:defRPr sz="1050">
                <a:solidFill>
                  <a:srgbClr val="6E76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>
                <a:solidFill>
                  <a:srgbClr val="6E76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项目成果</a:t>
            </a:r>
            <a:endParaRPr sz="1050">
              <a:solidFill>
                <a:srgbClr val="6E768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1201400" y="6438900"/>
            <a:ext cx="4572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5000"/>
              </a:lnSpc>
              <a:buNone/>
              <a:defRPr sz="1050">
                <a:solidFill>
                  <a:srgbClr val="6E76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>
                <a:solidFill>
                  <a:srgbClr val="6E76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</a:t>
            </a:r>
            <a:endParaRPr sz="1050">
              <a:solidFill>
                <a:srgbClr val="6E768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609600" y="1714500"/>
            <a:ext cx="38100" cy="247650"/>
          </a:xfrm>
          <a:prstGeom prst="roundRect">
            <a:avLst>
              <a:gd name="adj" fmla="val 50000"/>
            </a:avLst>
          </a:prstGeom>
          <a:solidFill>
            <a:srgbClr val="E8B04B"/>
          </a:solidFill>
          <a:ln w="9525">
            <a:noFill/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781050" y="1695450"/>
            <a:ext cx="5905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l">
              <a:lnSpc>
                <a:spcPct val="135000"/>
              </a:lnSpc>
              <a:buNone/>
              <a:defRPr sz="1275" b="1">
                <a:solidFill>
                  <a:srgbClr val="F2C9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F2C9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2017.09 - 2020.09 ｜ 主美 ｜ 代号 S 项目主设计</a:t>
            </a:r>
            <a:endParaRPr sz="1275" b="1">
              <a:solidFill>
                <a:srgbClr val="F2C97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76300" y="2247900"/>
            <a:ext cx="209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ctr">
              <a:lnSpc>
                <a:spcPct val="135000"/>
              </a:lnSpc>
              <a:buNone/>
              <a:defRPr sz="1050" b="1">
                <a:solidFill>
                  <a:srgbClr val="E8B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E8B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◆</a:t>
            </a:r>
            <a:endParaRPr sz="1050" b="1">
              <a:solidFill>
                <a:srgbClr val="E8B04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162050" y="2247900"/>
            <a:ext cx="5353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l">
              <a:lnSpc>
                <a:spcPct val="130000"/>
              </a:lnSpc>
              <a:buNone/>
              <a:defRPr sz="1500">
                <a:solidFill>
                  <a:srgbClr val="D8DCE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>
                <a:solidFill>
                  <a:srgbClr val="D8DCE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项目前期美术风格孵化</a:t>
            </a:r>
            <a:endParaRPr sz="1500">
              <a:solidFill>
                <a:srgbClr val="D8DCE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876300" y="2743200"/>
            <a:ext cx="209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ctr">
              <a:lnSpc>
                <a:spcPct val="135000"/>
              </a:lnSpc>
              <a:buNone/>
              <a:defRPr sz="1050" b="1">
                <a:solidFill>
                  <a:srgbClr val="E8B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E8B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◆</a:t>
            </a:r>
            <a:endParaRPr sz="1050" b="1">
              <a:solidFill>
                <a:srgbClr val="E8B04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1162050" y="2743200"/>
            <a:ext cx="5353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l">
              <a:lnSpc>
                <a:spcPct val="130000"/>
              </a:lnSpc>
              <a:buNone/>
              <a:defRPr sz="1500">
                <a:solidFill>
                  <a:srgbClr val="D8DCE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>
                <a:solidFill>
                  <a:srgbClr val="D8DCE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设计与制作标准制定</a:t>
            </a:r>
            <a:endParaRPr sz="1500">
              <a:solidFill>
                <a:srgbClr val="D8DCE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876300" y="3238500"/>
            <a:ext cx="209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ctr">
              <a:lnSpc>
                <a:spcPct val="135000"/>
              </a:lnSpc>
              <a:buNone/>
              <a:defRPr sz="1050" b="1">
                <a:solidFill>
                  <a:srgbClr val="E8B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E8B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◆</a:t>
            </a:r>
            <a:endParaRPr sz="1050" b="1">
              <a:solidFill>
                <a:srgbClr val="E8B04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162050" y="3238500"/>
            <a:ext cx="5353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l">
              <a:lnSpc>
                <a:spcPct val="130000"/>
              </a:lnSpc>
              <a:buNone/>
              <a:defRPr sz="1500">
                <a:solidFill>
                  <a:srgbClr val="D8DCE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>
                <a:solidFill>
                  <a:srgbClr val="D8DCE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项目目标与计划制定</a:t>
            </a:r>
            <a:endParaRPr sz="1500">
              <a:solidFill>
                <a:srgbClr val="D8DCE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876300" y="3733800"/>
            <a:ext cx="209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ctr">
              <a:lnSpc>
                <a:spcPct val="135000"/>
              </a:lnSpc>
              <a:buNone/>
              <a:defRPr sz="1050" b="1">
                <a:solidFill>
                  <a:srgbClr val="E8B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E8B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◆</a:t>
            </a:r>
            <a:endParaRPr sz="1050" b="1">
              <a:solidFill>
                <a:srgbClr val="E8B04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162050" y="3733800"/>
            <a:ext cx="5353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l">
              <a:lnSpc>
                <a:spcPct val="130000"/>
              </a:lnSpc>
              <a:buNone/>
              <a:defRPr sz="1500">
                <a:solidFill>
                  <a:srgbClr val="D8DCE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>
                <a:solidFill>
                  <a:srgbClr val="D8DCE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搭建美术中台与职级晋升体系</a:t>
            </a:r>
            <a:endParaRPr sz="1500">
              <a:solidFill>
                <a:srgbClr val="D8DCE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09600" y="5467350"/>
            <a:ext cx="59055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l">
              <a:lnSpc>
                <a:spcPct val="140000"/>
              </a:lnSpc>
              <a:buNone/>
              <a:defRPr sz="1350">
                <a:solidFill>
                  <a:srgbClr val="C6C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>
                <a:solidFill>
                  <a:srgbClr val="C6C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以主美视角搭建从风格到组织的完整美术体系。</a:t>
            </a:r>
            <a:endParaRPr sz="1350">
              <a:solidFill>
                <a:srgbClr val="C6CCD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9" name="图片 38"/>
          <p:cNvPicPr>
            <a:picLocks noChangeAspect="1"/>
          </p:cNvPicPr>
          <p:nvPr/>
        </p:nvPicPr>
        <p:blipFill>
          <a:blip r:embed="rId1"/>
          <a:srcRect t="37201" b="37201"/>
          <a:stretch>
            <a:fillRect/>
          </a:stretch>
        </p:blipFill>
        <p:spPr>
          <a:xfrm>
            <a:off x="7239000" y="1695450"/>
            <a:ext cx="4343400" cy="1333500"/>
          </a:xfrm>
          <a:prstGeom prst="roundRect">
            <a:avLst>
              <a:gd name="adj" fmla="val 5714"/>
            </a:avLst>
          </a:prstGeom>
        </p:spPr>
      </p:pic>
      <p:sp>
        <p:nvSpPr>
          <p:cNvPr id="18" name="圆角矩形 17"/>
          <p:cNvSpPr>
            <a:spLocks noGrp="1"/>
          </p:cNvSpPr>
          <p:nvPr/>
        </p:nvSpPr>
        <p:spPr>
          <a:xfrm>
            <a:off x="7239000" y="1695450"/>
            <a:ext cx="4343400" cy="1333500"/>
          </a:xfrm>
          <a:prstGeom prst="roundRect">
            <a:avLst>
              <a:gd name="adj" fmla="val 5714"/>
            </a:avLst>
          </a:prstGeom>
          <a:noFill/>
          <a:ln w="9525">
            <a:solidFill>
              <a:srgbClr val="2E3540"/>
            </a:solidFill>
            <a:prstDash val="solid"/>
          </a:ln>
        </p:spPr>
      </p:sp>
      <p:pic>
        <p:nvPicPr>
          <p:cNvPr id="41" name="图片 40"/>
          <p:cNvPicPr>
            <a:picLocks noChangeAspect="1"/>
          </p:cNvPicPr>
          <p:nvPr/>
        </p:nvPicPr>
        <p:blipFill>
          <a:blip r:embed="rId2"/>
          <a:srcRect t="15270" b="15270"/>
          <a:stretch>
            <a:fillRect/>
          </a:stretch>
        </p:blipFill>
        <p:spPr>
          <a:xfrm>
            <a:off x="7239000" y="3181350"/>
            <a:ext cx="4343400" cy="1333500"/>
          </a:xfrm>
          <a:prstGeom prst="roundRect">
            <a:avLst>
              <a:gd name="adj" fmla="val 5714"/>
            </a:avLst>
          </a:prstGeom>
        </p:spPr>
      </p:pic>
      <p:sp>
        <p:nvSpPr>
          <p:cNvPr id="20" name="圆角矩形 19"/>
          <p:cNvSpPr>
            <a:spLocks noGrp="1"/>
          </p:cNvSpPr>
          <p:nvPr/>
        </p:nvSpPr>
        <p:spPr>
          <a:xfrm>
            <a:off x="7239000" y="3181350"/>
            <a:ext cx="4343400" cy="1333500"/>
          </a:xfrm>
          <a:prstGeom prst="roundRect">
            <a:avLst>
              <a:gd name="adj" fmla="val 5714"/>
            </a:avLst>
          </a:prstGeom>
          <a:noFill/>
          <a:ln w="9525">
            <a:solidFill>
              <a:srgbClr val="2E3540"/>
            </a:solidFill>
            <a:prstDash val="solid"/>
          </a:ln>
        </p:spPr>
      </p:sp>
      <p:pic>
        <p:nvPicPr>
          <p:cNvPr id="43" name="图片 42"/>
          <p:cNvPicPr>
            <a:picLocks noChangeAspect="1"/>
          </p:cNvPicPr>
          <p:nvPr/>
        </p:nvPicPr>
        <p:blipFill>
          <a:blip r:embed="rId3"/>
          <a:srcRect t="22721" b="22721"/>
          <a:stretch>
            <a:fillRect/>
          </a:stretch>
        </p:blipFill>
        <p:spPr>
          <a:xfrm>
            <a:off x="7239000" y="4667250"/>
            <a:ext cx="4343400" cy="1333500"/>
          </a:xfrm>
          <a:prstGeom prst="roundRect">
            <a:avLst>
              <a:gd name="adj" fmla="val 5714"/>
            </a:avLst>
          </a:prstGeom>
        </p:spPr>
      </p:pic>
      <p:sp>
        <p:nvSpPr>
          <p:cNvPr id="22" name="圆角矩形 21"/>
          <p:cNvSpPr>
            <a:spLocks noGrp="1"/>
          </p:cNvSpPr>
          <p:nvPr/>
        </p:nvSpPr>
        <p:spPr>
          <a:xfrm>
            <a:off x="7239000" y="4667250"/>
            <a:ext cx="4343400" cy="1333500"/>
          </a:xfrm>
          <a:prstGeom prst="roundRect">
            <a:avLst>
              <a:gd name="adj" fmla="val 5714"/>
            </a:avLst>
          </a:prstGeom>
          <a:noFill/>
          <a:ln w="9525">
            <a:solidFill>
              <a:srgbClr val="2E3540"/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3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5" name="矩形 24"/>
          <p:cNvSpPr>
            <a:spLocks noGrp="1"/>
          </p:cNvSpPr>
          <p:nvPr/>
        </p:nvSpPr>
        <p:spPr>
          <a:xfrm>
            <a:off x="609600" y="438150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l">
              <a:lnSpc>
                <a:spcPct val="135000"/>
              </a:lnSpc>
              <a:buNone/>
              <a:defRPr sz="1350" b="1">
                <a:solidFill>
                  <a:srgbClr val="E8B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E8B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 / 网易签约画师</a:t>
            </a:r>
            <a:endParaRPr sz="1350" b="1">
              <a:solidFill>
                <a:srgbClr val="E8B04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09600" y="742950"/>
            <a:ext cx="109728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l">
              <a:lnSpc>
                <a:spcPct val="135000"/>
              </a:lnSpc>
              <a:buNone/>
              <a:defRPr sz="2700" b="1">
                <a:solidFill>
                  <a:srgbClr val="F4F1E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1">
                <a:solidFill>
                  <a:srgbClr val="F4F1E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10+ 项目的美术需求对接与高质量角色产出</a:t>
            </a:r>
            <a:endParaRPr sz="2700" b="1">
              <a:solidFill>
                <a:srgbClr val="F4F1E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圆角矩形 2"/>
          <p:cNvSpPr>
            <a:spLocks noGrp="1"/>
          </p:cNvSpPr>
          <p:nvPr/>
        </p:nvSpPr>
        <p:spPr>
          <a:xfrm>
            <a:off x="609600" y="1428750"/>
            <a:ext cx="10972800" cy="9525"/>
          </a:xfrm>
          <a:prstGeom prst="roundRect">
            <a:avLst>
              <a:gd name="adj" fmla="val 50000"/>
            </a:avLst>
          </a:prstGeom>
          <a:solidFill>
            <a:srgbClr val="232A33"/>
          </a:solidFill>
          <a:ln w="9525">
            <a:noFill/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6438900"/>
            <a:ext cx="4572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l">
              <a:lnSpc>
                <a:spcPct val="135000"/>
              </a:lnSpc>
              <a:buNone/>
              <a:defRPr sz="1050">
                <a:solidFill>
                  <a:srgbClr val="6E76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>
                <a:solidFill>
                  <a:srgbClr val="6E76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项目成果</a:t>
            </a:r>
            <a:endParaRPr sz="1050">
              <a:solidFill>
                <a:srgbClr val="6E768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1201400" y="6438900"/>
            <a:ext cx="4572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5000"/>
              </a:lnSpc>
              <a:buNone/>
              <a:defRPr sz="1050">
                <a:solidFill>
                  <a:srgbClr val="6E76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>
                <a:solidFill>
                  <a:srgbClr val="6E76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13</a:t>
            </a:r>
            <a:endParaRPr sz="1050">
              <a:solidFill>
                <a:srgbClr val="6E768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609600" y="1714500"/>
            <a:ext cx="38100" cy="247650"/>
          </a:xfrm>
          <a:prstGeom prst="roundRect">
            <a:avLst>
              <a:gd name="adj" fmla="val 50000"/>
            </a:avLst>
          </a:prstGeom>
          <a:solidFill>
            <a:srgbClr val="E8B04B"/>
          </a:solidFill>
          <a:ln w="9525">
            <a:noFill/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781050" y="1695450"/>
            <a:ext cx="5905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l">
              <a:lnSpc>
                <a:spcPct val="135000"/>
              </a:lnSpc>
              <a:buNone/>
              <a:defRPr sz="1275" b="1">
                <a:solidFill>
                  <a:srgbClr val="F2C9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F2C9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2014.09 - 2017.09 ｜ 签约画师 / 个人工作室</a:t>
            </a:r>
            <a:endParaRPr sz="1275" b="1">
              <a:solidFill>
                <a:srgbClr val="F2C97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76300" y="2247900"/>
            <a:ext cx="209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ctr">
              <a:lnSpc>
                <a:spcPct val="135000"/>
              </a:lnSpc>
              <a:buNone/>
              <a:defRPr sz="975" b="1">
                <a:solidFill>
                  <a:srgbClr val="E8B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E8B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◆</a:t>
            </a:r>
            <a:endParaRPr sz="975" b="1">
              <a:solidFill>
                <a:srgbClr val="E8B04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162050" y="2247900"/>
            <a:ext cx="5353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l">
              <a:lnSpc>
                <a:spcPct val="130000"/>
              </a:lnSpc>
              <a:buNone/>
              <a:defRPr sz="1425">
                <a:solidFill>
                  <a:srgbClr val="D8DCE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>
                <a:solidFill>
                  <a:srgbClr val="D8DCE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服务《大话西游手游》《梦幻西游手游》等 10+ 项目</a:t>
            </a:r>
            <a:endParaRPr sz="1425">
              <a:solidFill>
                <a:srgbClr val="D8DCE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876300" y="2743200"/>
            <a:ext cx="209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ctr">
              <a:lnSpc>
                <a:spcPct val="135000"/>
              </a:lnSpc>
              <a:buNone/>
              <a:defRPr sz="975" b="1">
                <a:solidFill>
                  <a:srgbClr val="E8B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E8B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◆</a:t>
            </a:r>
            <a:endParaRPr sz="975" b="1">
              <a:solidFill>
                <a:srgbClr val="E8B04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1162050" y="2743200"/>
            <a:ext cx="5353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l">
              <a:lnSpc>
                <a:spcPct val="130000"/>
              </a:lnSpc>
              <a:buNone/>
              <a:defRPr sz="1425">
                <a:solidFill>
                  <a:srgbClr val="D8DCE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>
                <a:solidFill>
                  <a:srgbClr val="D8DCE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负责原画设计、立绘、KV</a:t>
            </a:r>
            <a:endParaRPr sz="1425">
              <a:solidFill>
                <a:srgbClr val="D8DCE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876300" y="3238500"/>
            <a:ext cx="209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ctr">
              <a:lnSpc>
                <a:spcPct val="135000"/>
              </a:lnSpc>
              <a:buNone/>
              <a:defRPr sz="975" b="1">
                <a:solidFill>
                  <a:srgbClr val="E8B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E8B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◆</a:t>
            </a:r>
            <a:endParaRPr sz="975" b="1">
              <a:solidFill>
                <a:srgbClr val="E8B04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162050" y="3238500"/>
            <a:ext cx="5353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l">
              <a:lnSpc>
                <a:spcPct val="130000"/>
              </a:lnSpc>
              <a:buNone/>
              <a:defRPr sz="1425">
                <a:solidFill>
                  <a:srgbClr val="D8DCE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>
                <a:solidFill>
                  <a:srgbClr val="D8DCE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指导三视图、拆分、修图、图标</a:t>
            </a:r>
            <a:endParaRPr sz="1425">
              <a:solidFill>
                <a:srgbClr val="D8DCE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876300" y="3733800"/>
            <a:ext cx="209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ctr">
              <a:lnSpc>
                <a:spcPct val="135000"/>
              </a:lnSpc>
              <a:buNone/>
              <a:defRPr sz="975" b="1">
                <a:solidFill>
                  <a:srgbClr val="E8B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E8B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◆</a:t>
            </a:r>
            <a:endParaRPr sz="975" b="1">
              <a:solidFill>
                <a:srgbClr val="E8B04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162050" y="3733800"/>
            <a:ext cx="5353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l">
              <a:lnSpc>
                <a:spcPct val="130000"/>
              </a:lnSpc>
              <a:buNone/>
              <a:defRPr sz="1425">
                <a:solidFill>
                  <a:srgbClr val="D8DCE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>
                <a:solidFill>
                  <a:srgbClr val="D8DCE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覆盖国风、和风与二次元题材</a:t>
            </a:r>
            <a:endParaRPr sz="1425">
              <a:solidFill>
                <a:srgbClr val="D8DCE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09600" y="5467350"/>
            <a:ext cx="59055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l">
              <a:lnSpc>
                <a:spcPct val="140000"/>
              </a:lnSpc>
              <a:buNone/>
              <a:defRPr sz="1200">
                <a:solidFill>
                  <a:srgbClr val="C6C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>
                <a:solidFill>
                  <a:srgbClr val="C6C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大话西游手游、轩辕剑龙舞云山、决战平安京、幻书启示录、永远的七日之都等</a:t>
            </a:r>
            <a:endParaRPr sz="1200">
              <a:solidFill>
                <a:srgbClr val="C6CCD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1" name="图片 40"/>
          <p:cNvPicPr>
            <a:picLocks noChangeAspect="1"/>
          </p:cNvPicPr>
          <p:nvPr/>
        </p:nvPicPr>
        <p:blipFill>
          <a:blip r:embed="rId1"/>
          <a:srcRect t="14581" b="14581"/>
          <a:stretch>
            <a:fillRect/>
          </a:stretch>
        </p:blipFill>
        <p:spPr>
          <a:xfrm>
            <a:off x="7239000" y="1695450"/>
            <a:ext cx="2133600" cy="2095500"/>
          </a:xfrm>
          <a:prstGeom prst="roundRect">
            <a:avLst>
              <a:gd name="adj" fmla="val 3636"/>
            </a:avLst>
          </a:prstGeom>
        </p:spPr>
      </p:pic>
      <p:sp>
        <p:nvSpPr>
          <p:cNvPr id="18" name="圆角矩形 17"/>
          <p:cNvSpPr>
            <a:spLocks noGrp="1"/>
          </p:cNvSpPr>
          <p:nvPr/>
        </p:nvSpPr>
        <p:spPr>
          <a:xfrm>
            <a:off x="7239000" y="1695450"/>
            <a:ext cx="2133600" cy="2095500"/>
          </a:xfrm>
          <a:prstGeom prst="roundRect">
            <a:avLst>
              <a:gd name="adj" fmla="val 3636"/>
            </a:avLst>
          </a:prstGeom>
          <a:noFill/>
          <a:ln w="9525">
            <a:solidFill>
              <a:srgbClr val="2E3540"/>
            </a:solidFill>
            <a:prstDash val="solid"/>
          </a:ln>
        </p:spPr>
      </p:sp>
      <p:pic>
        <p:nvPicPr>
          <p:cNvPr id="43" name="图片 42"/>
          <p:cNvPicPr>
            <a:picLocks noChangeAspect="1"/>
          </p:cNvPicPr>
          <p:nvPr/>
        </p:nvPicPr>
        <p:blipFill>
          <a:blip r:embed="rId2"/>
          <a:srcRect l="7427" r="7427"/>
          <a:stretch>
            <a:fillRect/>
          </a:stretch>
        </p:blipFill>
        <p:spPr>
          <a:xfrm>
            <a:off x="9525000" y="1695450"/>
            <a:ext cx="2133600" cy="2095500"/>
          </a:xfrm>
          <a:prstGeom prst="roundRect">
            <a:avLst>
              <a:gd name="adj" fmla="val 3636"/>
            </a:avLst>
          </a:prstGeom>
        </p:spPr>
      </p:pic>
      <p:sp>
        <p:nvSpPr>
          <p:cNvPr id="20" name="圆角矩形 19"/>
          <p:cNvSpPr>
            <a:spLocks noGrp="1"/>
          </p:cNvSpPr>
          <p:nvPr/>
        </p:nvSpPr>
        <p:spPr>
          <a:xfrm>
            <a:off x="9525000" y="1695450"/>
            <a:ext cx="2133600" cy="2095500"/>
          </a:xfrm>
          <a:prstGeom prst="roundRect">
            <a:avLst>
              <a:gd name="adj" fmla="val 3636"/>
            </a:avLst>
          </a:prstGeom>
          <a:noFill/>
          <a:ln w="9525">
            <a:solidFill>
              <a:srgbClr val="2E3540"/>
            </a:solidFill>
            <a:prstDash val="solid"/>
          </a:ln>
        </p:spPr>
      </p:sp>
      <p:pic>
        <p:nvPicPr>
          <p:cNvPr id="45" name="图片 44"/>
          <p:cNvPicPr>
            <a:picLocks noChangeAspect="1"/>
          </p:cNvPicPr>
          <p:nvPr/>
        </p:nvPicPr>
        <p:blipFill>
          <a:blip r:embed="rId3"/>
          <a:srcRect t="893" b="893"/>
          <a:stretch>
            <a:fillRect/>
          </a:stretch>
        </p:blipFill>
        <p:spPr>
          <a:xfrm>
            <a:off x="7239000" y="3943350"/>
            <a:ext cx="2133600" cy="2095500"/>
          </a:xfrm>
          <a:prstGeom prst="roundRect">
            <a:avLst>
              <a:gd name="adj" fmla="val 3636"/>
            </a:avLst>
          </a:prstGeom>
        </p:spPr>
      </p:pic>
      <p:sp>
        <p:nvSpPr>
          <p:cNvPr id="22" name="圆角矩形 21"/>
          <p:cNvSpPr>
            <a:spLocks noGrp="1"/>
          </p:cNvSpPr>
          <p:nvPr/>
        </p:nvSpPr>
        <p:spPr>
          <a:xfrm>
            <a:off x="7239000" y="3943350"/>
            <a:ext cx="2133600" cy="2095500"/>
          </a:xfrm>
          <a:prstGeom prst="roundRect">
            <a:avLst>
              <a:gd name="adj" fmla="val 3636"/>
            </a:avLst>
          </a:prstGeom>
          <a:noFill/>
          <a:ln w="9525">
            <a:solidFill>
              <a:srgbClr val="2E3540"/>
            </a:solidFill>
            <a:prstDash val="solid"/>
          </a:ln>
        </p:spPr>
      </p:sp>
      <p:pic>
        <p:nvPicPr>
          <p:cNvPr id="47" name="图片 46"/>
          <p:cNvPicPr>
            <a:picLocks noChangeAspect="1"/>
          </p:cNvPicPr>
          <p:nvPr/>
        </p:nvPicPr>
        <p:blipFill>
          <a:blip r:embed="rId4"/>
          <a:srcRect l="21352" r="21352"/>
          <a:stretch>
            <a:fillRect/>
          </a:stretch>
        </p:blipFill>
        <p:spPr>
          <a:xfrm>
            <a:off x="9525000" y="3943350"/>
            <a:ext cx="2133600" cy="2095500"/>
          </a:xfrm>
          <a:prstGeom prst="roundRect">
            <a:avLst>
              <a:gd name="adj" fmla="val 3636"/>
            </a:avLst>
          </a:prstGeom>
        </p:spPr>
      </p:pic>
      <p:sp>
        <p:nvSpPr>
          <p:cNvPr id="24" name="圆角矩形 23"/>
          <p:cNvSpPr>
            <a:spLocks noGrp="1"/>
          </p:cNvSpPr>
          <p:nvPr/>
        </p:nvSpPr>
        <p:spPr>
          <a:xfrm>
            <a:off x="9525000" y="3943350"/>
            <a:ext cx="2133600" cy="2095500"/>
          </a:xfrm>
          <a:prstGeom prst="roundRect">
            <a:avLst>
              <a:gd name="adj" fmla="val 3636"/>
            </a:avLst>
          </a:prstGeom>
          <a:noFill/>
          <a:ln w="9525">
            <a:solidFill>
              <a:srgbClr val="2E3540"/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3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2" name="矩形 21"/>
          <p:cNvSpPr>
            <a:spLocks noGrp="1"/>
          </p:cNvSpPr>
          <p:nvPr/>
        </p:nvSpPr>
        <p:spPr>
          <a:xfrm>
            <a:off x="609600" y="438150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l">
              <a:lnSpc>
                <a:spcPct val="135000"/>
              </a:lnSpc>
              <a:buNone/>
              <a:defRPr sz="1350" b="1">
                <a:solidFill>
                  <a:srgbClr val="E8B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E8B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EARLY CAREER</a:t>
            </a:r>
            <a:endParaRPr sz="1350" b="1">
              <a:solidFill>
                <a:srgbClr val="E8B04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09600" y="742950"/>
            <a:ext cx="109728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l">
              <a:lnSpc>
                <a:spcPct val="135000"/>
              </a:lnSpc>
              <a:buNone/>
              <a:defRPr sz="2700" b="1">
                <a:solidFill>
                  <a:srgbClr val="F4F1E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1">
                <a:solidFill>
                  <a:srgbClr val="F4F1E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早期项目沉淀：从模型制作到角色设计管理</a:t>
            </a:r>
            <a:endParaRPr sz="2700" b="1">
              <a:solidFill>
                <a:srgbClr val="F4F1E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圆角矩形 2"/>
          <p:cNvSpPr>
            <a:spLocks noGrp="1"/>
          </p:cNvSpPr>
          <p:nvPr/>
        </p:nvSpPr>
        <p:spPr>
          <a:xfrm>
            <a:off x="609600" y="1428750"/>
            <a:ext cx="10972800" cy="9525"/>
          </a:xfrm>
          <a:prstGeom prst="roundRect">
            <a:avLst>
              <a:gd name="adj" fmla="val 50000"/>
            </a:avLst>
          </a:prstGeom>
          <a:solidFill>
            <a:srgbClr val="232A33"/>
          </a:solidFill>
          <a:ln w="9525">
            <a:noFill/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6438900"/>
            <a:ext cx="4572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l">
              <a:lnSpc>
                <a:spcPct val="135000"/>
              </a:lnSpc>
              <a:buNone/>
              <a:defRPr sz="1050">
                <a:solidFill>
                  <a:srgbClr val="6E76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>
                <a:solidFill>
                  <a:srgbClr val="6E76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项目成果</a:t>
            </a:r>
            <a:endParaRPr sz="1050">
              <a:solidFill>
                <a:srgbClr val="6E768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1201400" y="6438900"/>
            <a:ext cx="4572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5000"/>
              </a:lnSpc>
              <a:buNone/>
              <a:defRPr sz="1050">
                <a:solidFill>
                  <a:srgbClr val="6E76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>
                <a:solidFill>
                  <a:srgbClr val="6E76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14</a:t>
            </a:r>
            <a:endParaRPr sz="1050">
              <a:solidFill>
                <a:srgbClr val="6E768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609600" y="1676400"/>
            <a:ext cx="10972800" cy="1219200"/>
          </a:xfrm>
          <a:prstGeom prst="roundRect">
            <a:avLst>
              <a:gd name="adj" fmla="val 6250"/>
            </a:avLst>
          </a:prstGeom>
          <a:solidFill>
            <a:srgbClr val="171C22"/>
          </a:solidFill>
          <a:ln w="9525">
            <a:solidFill>
              <a:srgbClr val="2A3038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876300" y="1866900"/>
            <a:ext cx="2190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l">
              <a:lnSpc>
                <a:spcPct val="135000"/>
              </a:lnSpc>
              <a:buNone/>
              <a:defRPr sz="1350" b="1">
                <a:solidFill>
                  <a:srgbClr val="E8B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E8B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2013.09 - 2014.09</a:t>
            </a:r>
            <a:endParaRPr sz="1350" b="1">
              <a:solidFill>
                <a:srgbClr val="E8B04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76300" y="2228850"/>
            <a:ext cx="2190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l">
              <a:lnSpc>
                <a:spcPct val="125000"/>
              </a:lnSpc>
              <a:buNone/>
              <a:defRPr sz="1200" b="1">
                <a:solidFill>
                  <a:srgbClr val="EDE9E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EDE9E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深圳墨麟 · 角色主管</a:t>
            </a:r>
            <a:r>
              <a:rPr>
                <a:sym typeface="+mn-ea"/>
              </a:rPr>
              <a:t> / </a:t>
            </a:r>
            <a:r>
              <a:rPr lang="zh-CN">
                <a:sym typeface="+mn-ea"/>
              </a:rPr>
              <a:t>主美</a:t>
            </a:r>
            <a:endParaRPr lang="zh-CN" sz="1200" b="1">
              <a:solidFill>
                <a:srgbClr val="EDE9E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3390900" y="1847850"/>
            <a:ext cx="9525" cy="876300"/>
          </a:xfrm>
          <a:prstGeom prst="roundRect">
            <a:avLst>
              <a:gd name="adj" fmla="val 50000"/>
            </a:avLst>
          </a:prstGeom>
          <a:solidFill>
            <a:srgbClr val="2E3540"/>
          </a:solidFill>
          <a:ln w="9525">
            <a:noFill/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3657600" y="1885950"/>
            <a:ext cx="76581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l">
              <a:lnSpc>
                <a:spcPct val="135000"/>
              </a:lnSpc>
              <a:buNone/>
              <a:defRPr sz="1200">
                <a:solidFill>
                  <a:srgbClr val="D8DCE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>
                <a:solidFill>
                  <a:srgbClr val="D8DCE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热血屠龙（3渲2 / 写实 / 页游），中后期任主美术；负责套装、坐骑、武器、翅膀等重要设计，协助风云无双 web、古剑 web。</a:t>
            </a:r>
            <a:endParaRPr sz="1200">
              <a:solidFill>
                <a:srgbClr val="D8DCE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609600" y="3105150"/>
            <a:ext cx="10972800" cy="1219200"/>
          </a:xfrm>
          <a:prstGeom prst="roundRect">
            <a:avLst>
              <a:gd name="adj" fmla="val 6250"/>
            </a:avLst>
          </a:prstGeom>
          <a:solidFill>
            <a:srgbClr val="171C22"/>
          </a:solidFill>
          <a:ln w="9525">
            <a:solidFill>
              <a:srgbClr val="2A3038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876300" y="3295650"/>
            <a:ext cx="2190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l">
              <a:lnSpc>
                <a:spcPct val="135000"/>
              </a:lnSpc>
              <a:buNone/>
              <a:defRPr sz="1350" b="1">
                <a:solidFill>
                  <a:srgbClr val="E8B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E8B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2011.05 - 2013.09</a:t>
            </a:r>
            <a:endParaRPr sz="1350" b="1">
              <a:solidFill>
                <a:srgbClr val="E8B04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76300" y="3657600"/>
            <a:ext cx="2190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l">
              <a:lnSpc>
                <a:spcPct val="125000"/>
              </a:lnSpc>
              <a:buNone/>
              <a:defRPr sz="1200" b="1">
                <a:solidFill>
                  <a:srgbClr val="EDE9E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EDE9E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北京呈天游 T4game · 原画设计 / 组长</a:t>
            </a:r>
            <a:endParaRPr sz="1200" b="1">
              <a:solidFill>
                <a:srgbClr val="EDE9E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3390900" y="3276600"/>
            <a:ext cx="9525" cy="876300"/>
          </a:xfrm>
          <a:prstGeom prst="roundRect">
            <a:avLst>
              <a:gd name="adj" fmla="val 50000"/>
            </a:avLst>
          </a:prstGeom>
          <a:solidFill>
            <a:srgbClr val="2E3540"/>
          </a:solidFill>
          <a:ln w="9525">
            <a:noFill/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3657600" y="3314700"/>
            <a:ext cx="76581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l">
              <a:lnSpc>
                <a:spcPct val="135000"/>
              </a:lnSpc>
              <a:buNone/>
              <a:defRPr sz="1200">
                <a:solidFill>
                  <a:srgbClr val="D8DCE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>
                <a:solidFill>
                  <a:srgbClr val="D8DCE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神游记（3D / 写实 / 仙侠 / 页游）、诛神 OL（3渲2 / 卡通 / 页游），负责主角套装、时装、坐骑、武器设计。</a:t>
            </a:r>
            <a:endParaRPr sz="1200">
              <a:solidFill>
                <a:srgbClr val="D8DCE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609600" y="4533900"/>
            <a:ext cx="10972800" cy="1219200"/>
          </a:xfrm>
          <a:prstGeom prst="roundRect">
            <a:avLst>
              <a:gd name="adj" fmla="val 6250"/>
            </a:avLst>
          </a:prstGeom>
          <a:solidFill>
            <a:srgbClr val="171C22"/>
          </a:solidFill>
          <a:ln w="9525">
            <a:solidFill>
              <a:srgbClr val="2A3038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876300" y="4724400"/>
            <a:ext cx="2190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l">
              <a:lnSpc>
                <a:spcPct val="135000"/>
              </a:lnSpc>
              <a:buNone/>
              <a:defRPr sz="1350" b="1">
                <a:solidFill>
                  <a:srgbClr val="E8B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E8B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2008.12 - 2010.12</a:t>
            </a:r>
            <a:endParaRPr sz="1350" b="1">
              <a:solidFill>
                <a:srgbClr val="E8B04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876300" y="5086350"/>
            <a:ext cx="2190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l">
              <a:lnSpc>
                <a:spcPct val="125000"/>
              </a:lnSpc>
              <a:buNone/>
              <a:defRPr sz="1200" b="1">
                <a:solidFill>
                  <a:srgbClr val="EDE9E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EDE9E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沈阳瀚唐 · 3D 模型师</a:t>
            </a:r>
            <a:endParaRPr sz="1200" b="1">
              <a:solidFill>
                <a:srgbClr val="EDE9E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圆角矩形 18"/>
          <p:cNvSpPr>
            <a:spLocks noGrp="1"/>
          </p:cNvSpPr>
          <p:nvPr/>
        </p:nvSpPr>
        <p:spPr>
          <a:xfrm>
            <a:off x="3390900" y="4705350"/>
            <a:ext cx="9525" cy="876300"/>
          </a:xfrm>
          <a:prstGeom prst="roundRect">
            <a:avLst>
              <a:gd name="adj" fmla="val 50000"/>
            </a:avLst>
          </a:prstGeom>
          <a:solidFill>
            <a:srgbClr val="2E3540"/>
          </a:solidFill>
          <a:ln w="9525">
            <a:noFill/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3657600" y="4743450"/>
            <a:ext cx="76581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l">
              <a:lnSpc>
                <a:spcPct val="135000"/>
              </a:lnSpc>
              <a:buNone/>
              <a:defRPr sz="1200">
                <a:solidFill>
                  <a:srgbClr val="D8DCE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>
                <a:solidFill>
                  <a:srgbClr val="D8DCE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哈派乐园（3D / 音乐剧 / 卡通 / 动画片）角色、道具、场景模型，后期兼任原画、灯光渲染与动作捕捉调优。</a:t>
            </a:r>
            <a:endParaRPr sz="1200">
              <a:solidFill>
                <a:srgbClr val="D8DCE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609600" y="6210300"/>
            <a:ext cx="10972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ctr">
              <a:lnSpc>
                <a:spcPct val="135000"/>
              </a:lnSpc>
              <a:buNone/>
              <a:defRPr sz="1200">
                <a:solidFill>
                  <a:srgbClr val="A7AF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>
                <a:solidFill>
                  <a:srgbClr val="A7AF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跨品类、跨流程的经历，构成今天做管理时能看懂每个环节的基础。</a:t>
            </a:r>
            <a:endParaRPr sz="1200">
              <a:solidFill>
                <a:srgbClr val="A7AF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rcRect t="23307" b="2330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solidFill>
              <a:srgbClr val="2E3540"/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D10">
              <a:alpha val="72157"/>
            </a:srgbClr>
          </a:solidFill>
          <a:ln w="9525">
            <a:noFill/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0D10">
                  <a:alpha val="65098"/>
                </a:srgbClr>
              </a:gs>
              <a:gs pos="42000">
                <a:srgbClr val="0B0D10">
                  <a:alpha val="0"/>
                </a:srgbClr>
              </a:gs>
            </a:gsLst>
            <a:lin ang="10800000"/>
          </a:gradFill>
          <a:ln w="9525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0" y="2362200"/>
            <a:ext cx="12192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ctr">
              <a:lnSpc>
                <a:spcPct val="135000"/>
              </a:lnSpc>
              <a:buNone/>
              <a:defRPr sz="1800" b="1">
                <a:solidFill>
                  <a:srgbClr val="E8B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E8B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1800" b="1">
              <a:solidFill>
                <a:srgbClr val="E8B04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0" y="2914650"/>
            <a:ext cx="121920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ctr">
              <a:lnSpc>
                <a:spcPct val="135000"/>
              </a:lnSpc>
              <a:buNone/>
              <a:defRPr sz="4500" b="1">
                <a:solidFill>
                  <a:srgbClr val="F4F1E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500" b="1">
                <a:solidFill>
                  <a:srgbClr val="F4F1E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手绘设计能力</a:t>
            </a:r>
            <a:endParaRPr sz="4500" b="1">
              <a:solidFill>
                <a:srgbClr val="F4F1E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0" y="4000500"/>
            <a:ext cx="12192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ctr">
              <a:lnSpc>
                <a:spcPct val="135000"/>
              </a:lnSpc>
              <a:buNone/>
              <a:defRPr sz="1800">
                <a:solidFill>
                  <a:srgbClr val="C6C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>
                <a:solidFill>
                  <a:srgbClr val="C6C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角色原画、立绘、KV 与完整设计过程</a:t>
            </a:r>
            <a:endParaRPr sz="1800">
              <a:solidFill>
                <a:srgbClr val="C6CCD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09600" y="6438900"/>
            <a:ext cx="4572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l">
              <a:lnSpc>
                <a:spcPct val="135000"/>
              </a:lnSpc>
              <a:buNone/>
              <a:defRPr sz="1050">
                <a:solidFill>
                  <a:srgbClr val="6E76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>
                <a:solidFill>
                  <a:srgbClr val="6E76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张斌 · 游戏美术总监</a:t>
            </a:r>
            <a:endParaRPr sz="1050">
              <a:solidFill>
                <a:srgbClr val="6E768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1201400" y="6438900"/>
            <a:ext cx="4572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5000"/>
              </a:lnSpc>
              <a:buNone/>
              <a:defRPr sz="1050">
                <a:solidFill>
                  <a:srgbClr val="6E76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>
                <a:solidFill>
                  <a:srgbClr val="6E76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15</a:t>
            </a:r>
            <a:endParaRPr sz="1050">
              <a:solidFill>
                <a:srgbClr val="6E768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3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9" name="矩形 18"/>
          <p:cNvSpPr>
            <a:spLocks noGrp="1"/>
          </p:cNvSpPr>
          <p:nvPr/>
        </p:nvSpPr>
        <p:spPr>
          <a:xfrm>
            <a:off x="609600" y="438150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l">
              <a:lnSpc>
                <a:spcPct val="135000"/>
              </a:lnSpc>
              <a:buNone/>
              <a:defRPr sz="1350" b="1">
                <a:solidFill>
                  <a:srgbClr val="E8B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E8B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手绘设计能力</a:t>
            </a:r>
            <a:endParaRPr sz="1350" b="1">
              <a:solidFill>
                <a:srgbClr val="E8B04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09600" y="742950"/>
            <a:ext cx="109728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l">
              <a:lnSpc>
                <a:spcPct val="135000"/>
              </a:lnSpc>
              <a:buNone/>
              <a:defRPr sz="2700" b="1">
                <a:solidFill>
                  <a:srgbClr val="F4F1E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1">
                <a:solidFill>
                  <a:srgbClr val="F4F1E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国风、写实与和风：多题材角色表现</a:t>
            </a:r>
            <a:endParaRPr sz="2700" b="1">
              <a:solidFill>
                <a:srgbClr val="F4F1E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圆角矩形 2"/>
          <p:cNvSpPr>
            <a:spLocks noGrp="1"/>
          </p:cNvSpPr>
          <p:nvPr/>
        </p:nvSpPr>
        <p:spPr>
          <a:xfrm>
            <a:off x="609600" y="1428750"/>
            <a:ext cx="10972800" cy="9525"/>
          </a:xfrm>
          <a:prstGeom prst="roundRect">
            <a:avLst>
              <a:gd name="adj" fmla="val 50000"/>
            </a:avLst>
          </a:prstGeom>
          <a:solidFill>
            <a:srgbClr val="232A33"/>
          </a:solidFill>
          <a:ln w="9525">
            <a:noFill/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6438900"/>
            <a:ext cx="4572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l">
              <a:lnSpc>
                <a:spcPct val="135000"/>
              </a:lnSpc>
              <a:buNone/>
              <a:defRPr sz="1050">
                <a:solidFill>
                  <a:srgbClr val="6E76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>
                <a:solidFill>
                  <a:srgbClr val="6E76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张斌 · 游戏美术总监</a:t>
            </a:r>
            <a:endParaRPr sz="1050">
              <a:solidFill>
                <a:srgbClr val="6E768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1201400" y="6438900"/>
            <a:ext cx="4572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5000"/>
              </a:lnSpc>
              <a:buNone/>
              <a:defRPr sz="1050">
                <a:solidFill>
                  <a:srgbClr val="6E76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>
                <a:solidFill>
                  <a:srgbClr val="6E76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16</a:t>
            </a:r>
            <a:endParaRPr sz="1050">
              <a:solidFill>
                <a:srgbClr val="6E768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4" name="图片 2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t="22028" b="22028"/>
          <a:stretch>
            <a:fillRect/>
          </a:stretch>
        </p:blipFill>
        <p:spPr>
          <a:xfrm>
            <a:off x="609600" y="1600200"/>
            <a:ext cx="5219700" cy="2000250"/>
          </a:xfrm>
          <a:prstGeom prst="roundRect">
            <a:avLst>
              <a:gd name="adj" fmla="val 3810"/>
            </a:avLst>
          </a:prstGeom>
        </p:spPr>
      </p:pic>
      <p:sp>
        <p:nvSpPr>
          <p:cNvPr id="7" name="圆角矩形 6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609600" y="1600200"/>
            <a:ext cx="5219700" cy="2000250"/>
          </a:xfrm>
          <a:prstGeom prst="roundRect">
            <a:avLst>
              <a:gd name="adj" fmla="val 3810"/>
            </a:avLst>
          </a:prstGeom>
          <a:noFill/>
          <a:ln w="9525">
            <a:solidFill>
              <a:srgbClr val="2E3540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609600" y="3573145"/>
            <a:ext cx="5219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ctr">
              <a:lnSpc>
                <a:spcPct val="135000"/>
              </a:lnSpc>
              <a:buNone/>
              <a:defRPr sz="1200">
                <a:solidFill>
                  <a:srgbClr val="A7AF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>
                <a:solidFill>
                  <a:srgbClr val="A7AF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银角大王</a:t>
            </a:r>
            <a:endParaRPr sz="1200">
              <a:solidFill>
                <a:srgbClr val="A7AF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7" name="图片 26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rcRect t="30839" b="30839"/>
          <a:stretch>
            <a:fillRect/>
          </a:stretch>
        </p:blipFill>
        <p:spPr>
          <a:xfrm>
            <a:off x="6210300" y="1600200"/>
            <a:ext cx="5219700" cy="2000250"/>
          </a:xfrm>
          <a:prstGeom prst="roundRect">
            <a:avLst>
              <a:gd name="adj" fmla="val 3810"/>
            </a:avLst>
          </a:prstGeom>
        </p:spPr>
      </p:pic>
      <p:sp>
        <p:nvSpPr>
          <p:cNvPr id="10" name="圆角矩形 9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6210300" y="1600200"/>
            <a:ext cx="5219700" cy="2000250"/>
          </a:xfrm>
          <a:prstGeom prst="roundRect">
            <a:avLst>
              <a:gd name="adj" fmla="val 3810"/>
            </a:avLst>
          </a:prstGeom>
          <a:noFill/>
          <a:ln w="9525">
            <a:solidFill>
              <a:srgbClr val="2E3540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6210300" y="3573145"/>
            <a:ext cx="5219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ctr">
              <a:lnSpc>
                <a:spcPct val="135000"/>
              </a:lnSpc>
              <a:buNone/>
              <a:defRPr sz="1200">
                <a:solidFill>
                  <a:srgbClr val="A7AF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>
                <a:solidFill>
                  <a:srgbClr val="A7AF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妖狐</a:t>
            </a:r>
            <a:endParaRPr sz="1200">
              <a:solidFill>
                <a:srgbClr val="A7AF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0" name="图片 29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/>
          <a:srcRect t="11327" b="11327"/>
          <a:stretch>
            <a:fillRect/>
          </a:stretch>
        </p:blipFill>
        <p:spPr>
          <a:xfrm>
            <a:off x="609600" y="3930650"/>
            <a:ext cx="5219700" cy="2000250"/>
          </a:xfrm>
          <a:prstGeom prst="roundRect">
            <a:avLst>
              <a:gd name="adj" fmla="val 3810"/>
            </a:avLst>
          </a:prstGeom>
        </p:spPr>
      </p:pic>
      <p:sp>
        <p:nvSpPr>
          <p:cNvPr id="13" name="圆角矩形 12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609600" y="3933190"/>
            <a:ext cx="5219700" cy="2000250"/>
          </a:xfrm>
          <a:prstGeom prst="roundRect">
            <a:avLst>
              <a:gd name="adj" fmla="val 3810"/>
            </a:avLst>
          </a:prstGeom>
          <a:noFill/>
          <a:ln w="9525">
            <a:solidFill>
              <a:srgbClr val="2E3540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609600" y="6007100"/>
            <a:ext cx="5219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ctr">
              <a:lnSpc>
                <a:spcPct val="135000"/>
              </a:lnSpc>
              <a:buNone/>
              <a:defRPr sz="1200">
                <a:solidFill>
                  <a:srgbClr val="A7AF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>
                <a:solidFill>
                  <a:srgbClr val="A7AF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刑天</a:t>
            </a:r>
            <a:endParaRPr sz="1200">
              <a:solidFill>
                <a:srgbClr val="A7AF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3" name="图片 32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/>
          <a:srcRect t="30593" b="30593"/>
          <a:stretch>
            <a:fillRect/>
          </a:stretch>
        </p:blipFill>
        <p:spPr>
          <a:xfrm>
            <a:off x="6210300" y="3930650"/>
            <a:ext cx="5219700" cy="2000250"/>
          </a:xfrm>
          <a:prstGeom prst="roundRect">
            <a:avLst>
              <a:gd name="adj" fmla="val 3810"/>
            </a:avLst>
          </a:prstGeom>
        </p:spPr>
      </p:pic>
      <p:sp>
        <p:nvSpPr>
          <p:cNvPr id="16" name="圆角矩形 15"/>
          <p:cNvSpPr>
            <a:spLocks noGrp="1"/>
          </p:cNvSpPr>
          <p:nvPr>
            <p:custDataLst>
              <p:tags r:id="rId15"/>
            </p:custDataLst>
          </p:nvPr>
        </p:nvSpPr>
        <p:spPr>
          <a:xfrm>
            <a:off x="6210300" y="3933190"/>
            <a:ext cx="5219700" cy="2000250"/>
          </a:xfrm>
          <a:prstGeom prst="roundRect">
            <a:avLst>
              <a:gd name="adj" fmla="val 3810"/>
            </a:avLst>
          </a:prstGeom>
          <a:noFill/>
          <a:ln w="9525">
            <a:solidFill>
              <a:srgbClr val="2E3540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>
            <p:custDataLst>
              <p:tags r:id="rId16"/>
            </p:custDataLst>
          </p:nvPr>
        </p:nvSpPr>
        <p:spPr>
          <a:xfrm>
            <a:off x="6210300" y="6007100"/>
            <a:ext cx="5219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ctr">
              <a:lnSpc>
                <a:spcPct val="135000"/>
              </a:lnSpc>
              <a:buNone/>
              <a:defRPr sz="1200">
                <a:solidFill>
                  <a:srgbClr val="A7AF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>
                <a:solidFill>
                  <a:srgbClr val="A7AF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书生</a:t>
            </a:r>
            <a:endParaRPr sz="1200">
              <a:solidFill>
                <a:srgbClr val="A7AF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09600" y="6172200"/>
            <a:ext cx="10972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ctr">
              <a:lnSpc>
                <a:spcPct val="135000"/>
              </a:lnSpc>
              <a:buNone/>
              <a:defRPr sz="1200">
                <a:solidFill>
                  <a:srgbClr val="A7AF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>
                <a:solidFill>
                  <a:srgbClr val="A7AF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不同题材下的造型把控与角色性格塑造。</a:t>
            </a:r>
            <a:endParaRPr sz="1200">
              <a:solidFill>
                <a:srgbClr val="A7AF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3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9" name="矩形 18"/>
          <p:cNvSpPr>
            <a:spLocks noGrp="1"/>
          </p:cNvSpPr>
          <p:nvPr/>
        </p:nvSpPr>
        <p:spPr>
          <a:xfrm>
            <a:off x="609600" y="438150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l">
              <a:lnSpc>
                <a:spcPct val="135000"/>
              </a:lnSpc>
              <a:buNone/>
              <a:defRPr sz="1350" b="1">
                <a:solidFill>
                  <a:srgbClr val="E8B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E8B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手绘设计能力</a:t>
            </a:r>
            <a:endParaRPr sz="1350" b="1">
              <a:solidFill>
                <a:srgbClr val="E8B04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09600" y="742950"/>
            <a:ext cx="109728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l">
              <a:lnSpc>
                <a:spcPct val="135000"/>
              </a:lnSpc>
              <a:buNone/>
              <a:defRPr sz="2700" b="1">
                <a:solidFill>
                  <a:srgbClr val="F4F1E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1">
                <a:solidFill>
                  <a:srgbClr val="F4F1E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卡通与 Q 版：角色性格与商业适配</a:t>
            </a:r>
            <a:endParaRPr sz="2700" b="1">
              <a:solidFill>
                <a:srgbClr val="F4F1E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圆角矩形 2"/>
          <p:cNvSpPr>
            <a:spLocks noGrp="1"/>
          </p:cNvSpPr>
          <p:nvPr/>
        </p:nvSpPr>
        <p:spPr>
          <a:xfrm>
            <a:off x="609600" y="1428750"/>
            <a:ext cx="10972800" cy="9525"/>
          </a:xfrm>
          <a:prstGeom prst="roundRect">
            <a:avLst>
              <a:gd name="adj" fmla="val 50000"/>
            </a:avLst>
          </a:prstGeom>
          <a:solidFill>
            <a:srgbClr val="232A33"/>
          </a:solidFill>
          <a:ln w="9525">
            <a:noFill/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6438900"/>
            <a:ext cx="4572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l">
              <a:lnSpc>
                <a:spcPct val="135000"/>
              </a:lnSpc>
              <a:buNone/>
              <a:defRPr sz="1050">
                <a:solidFill>
                  <a:srgbClr val="6E76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>
                <a:solidFill>
                  <a:srgbClr val="6E76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张斌 · 游戏美术总监</a:t>
            </a:r>
            <a:endParaRPr sz="1050">
              <a:solidFill>
                <a:srgbClr val="6E768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1201400" y="6438900"/>
            <a:ext cx="4572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5000"/>
              </a:lnSpc>
              <a:buNone/>
              <a:defRPr sz="1050">
                <a:solidFill>
                  <a:srgbClr val="6E76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>
                <a:solidFill>
                  <a:srgbClr val="6E76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17</a:t>
            </a:r>
            <a:endParaRPr sz="1050">
              <a:solidFill>
                <a:srgbClr val="6E768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4" name="图片 2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t="31245" b="31245"/>
          <a:stretch>
            <a:fillRect/>
          </a:stretch>
        </p:blipFill>
        <p:spPr>
          <a:xfrm>
            <a:off x="609600" y="1600200"/>
            <a:ext cx="5219700" cy="2000250"/>
          </a:xfrm>
          <a:prstGeom prst="roundRect">
            <a:avLst>
              <a:gd name="adj" fmla="val 3810"/>
            </a:avLst>
          </a:prstGeom>
        </p:spPr>
      </p:pic>
      <p:sp>
        <p:nvSpPr>
          <p:cNvPr id="7" name="圆角矩形 6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609600" y="1600200"/>
            <a:ext cx="5219700" cy="2000250"/>
          </a:xfrm>
          <a:prstGeom prst="roundRect">
            <a:avLst>
              <a:gd name="adj" fmla="val 3810"/>
            </a:avLst>
          </a:prstGeom>
          <a:noFill/>
          <a:ln w="9525">
            <a:solidFill>
              <a:srgbClr val="2E3540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609600" y="3629025"/>
            <a:ext cx="5219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ctr">
              <a:lnSpc>
                <a:spcPct val="135000"/>
              </a:lnSpc>
              <a:buNone/>
              <a:defRPr sz="1200">
                <a:solidFill>
                  <a:srgbClr val="A7AF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>
                <a:solidFill>
                  <a:srgbClr val="A7AF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泡泡</a:t>
            </a:r>
            <a:endParaRPr sz="1200">
              <a:solidFill>
                <a:srgbClr val="A7AF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7" name="图片 26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rcRect t="22483" b="22483"/>
          <a:stretch>
            <a:fillRect/>
          </a:stretch>
        </p:blipFill>
        <p:spPr>
          <a:xfrm>
            <a:off x="6210300" y="1600200"/>
            <a:ext cx="5219700" cy="2000250"/>
          </a:xfrm>
          <a:prstGeom prst="roundRect">
            <a:avLst>
              <a:gd name="adj" fmla="val 3810"/>
            </a:avLst>
          </a:prstGeom>
        </p:spPr>
      </p:pic>
      <p:sp>
        <p:nvSpPr>
          <p:cNvPr id="10" name="圆角矩形 9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6210300" y="1600200"/>
            <a:ext cx="5219700" cy="2000250"/>
          </a:xfrm>
          <a:prstGeom prst="roundRect">
            <a:avLst>
              <a:gd name="adj" fmla="val 3810"/>
            </a:avLst>
          </a:prstGeom>
          <a:noFill/>
          <a:ln w="9525">
            <a:solidFill>
              <a:srgbClr val="2E3540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6210300" y="3629025"/>
            <a:ext cx="5219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ctr">
              <a:lnSpc>
                <a:spcPct val="135000"/>
              </a:lnSpc>
              <a:buNone/>
              <a:defRPr sz="1200">
                <a:solidFill>
                  <a:srgbClr val="A7AF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>
                <a:solidFill>
                  <a:srgbClr val="A7AF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月牙武士</a:t>
            </a:r>
            <a:endParaRPr sz="1200">
              <a:solidFill>
                <a:srgbClr val="A7AF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0" name="图片 29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/>
          <a:srcRect t="32999" b="32999"/>
          <a:stretch>
            <a:fillRect/>
          </a:stretch>
        </p:blipFill>
        <p:spPr>
          <a:xfrm>
            <a:off x="609600" y="3930650"/>
            <a:ext cx="5219700" cy="2000250"/>
          </a:xfrm>
          <a:prstGeom prst="roundRect">
            <a:avLst>
              <a:gd name="adj" fmla="val 3810"/>
            </a:avLst>
          </a:prstGeom>
        </p:spPr>
      </p:pic>
      <p:sp>
        <p:nvSpPr>
          <p:cNvPr id="13" name="圆角矩形 12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609600" y="3924300"/>
            <a:ext cx="5219700" cy="2000250"/>
          </a:xfrm>
          <a:prstGeom prst="roundRect">
            <a:avLst>
              <a:gd name="adj" fmla="val 3810"/>
            </a:avLst>
          </a:prstGeom>
          <a:noFill/>
          <a:ln w="9525">
            <a:solidFill>
              <a:srgbClr val="2E3540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609600" y="6000750"/>
            <a:ext cx="5219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ctr">
              <a:lnSpc>
                <a:spcPct val="135000"/>
              </a:lnSpc>
              <a:buNone/>
              <a:defRPr sz="1200">
                <a:solidFill>
                  <a:srgbClr val="A7AF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>
                <a:solidFill>
                  <a:srgbClr val="A7AF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罗莎莉亚</a:t>
            </a:r>
            <a:endParaRPr sz="1200">
              <a:solidFill>
                <a:srgbClr val="A7AF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3" name="图片 32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/>
          <a:srcRect t="34025" b="34025"/>
          <a:stretch>
            <a:fillRect/>
          </a:stretch>
        </p:blipFill>
        <p:spPr>
          <a:xfrm>
            <a:off x="6210300" y="3924300"/>
            <a:ext cx="5219700" cy="2000250"/>
          </a:xfrm>
          <a:prstGeom prst="roundRect">
            <a:avLst>
              <a:gd name="adj" fmla="val 3810"/>
            </a:avLst>
          </a:prstGeom>
        </p:spPr>
      </p:pic>
      <p:sp>
        <p:nvSpPr>
          <p:cNvPr id="16" name="圆角矩形 15"/>
          <p:cNvSpPr>
            <a:spLocks noGrp="1"/>
          </p:cNvSpPr>
          <p:nvPr>
            <p:custDataLst>
              <p:tags r:id="rId15"/>
            </p:custDataLst>
          </p:nvPr>
        </p:nvSpPr>
        <p:spPr>
          <a:xfrm>
            <a:off x="6210300" y="3930650"/>
            <a:ext cx="5219700" cy="2000250"/>
          </a:xfrm>
          <a:prstGeom prst="roundRect">
            <a:avLst>
              <a:gd name="adj" fmla="val 3810"/>
            </a:avLst>
          </a:prstGeom>
          <a:noFill/>
          <a:ln w="9525">
            <a:solidFill>
              <a:srgbClr val="2E3540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>
            <p:custDataLst>
              <p:tags r:id="rId16"/>
            </p:custDataLst>
          </p:nvPr>
        </p:nvSpPr>
        <p:spPr>
          <a:xfrm>
            <a:off x="6210300" y="6000750"/>
            <a:ext cx="5219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ctr">
              <a:lnSpc>
                <a:spcPct val="135000"/>
              </a:lnSpc>
              <a:buNone/>
              <a:defRPr sz="1200">
                <a:solidFill>
                  <a:srgbClr val="A7AF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>
                <a:solidFill>
                  <a:srgbClr val="A7AF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立绘</a:t>
            </a:r>
            <a:endParaRPr sz="1200">
              <a:solidFill>
                <a:srgbClr val="A7AF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09600" y="6172200"/>
            <a:ext cx="10972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ctr">
              <a:lnSpc>
                <a:spcPct val="135000"/>
              </a:lnSpc>
              <a:buNone/>
              <a:defRPr sz="1200">
                <a:solidFill>
                  <a:srgbClr val="A7AF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>
                <a:solidFill>
                  <a:srgbClr val="A7AF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从形象识别到表情与气质，适配轻松向玩法与运营场景。</a:t>
            </a:r>
            <a:endParaRPr sz="1200">
              <a:solidFill>
                <a:srgbClr val="A7AF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3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9" name="矩形 18"/>
          <p:cNvSpPr>
            <a:spLocks noGrp="1"/>
          </p:cNvSpPr>
          <p:nvPr/>
        </p:nvSpPr>
        <p:spPr>
          <a:xfrm>
            <a:off x="609600" y="438150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l">
              <a:lnSpc>
                <a:spcPct val="135000"/>
              </a:lnSpc>
              <a:buNone/>
              <a:defRPr sz="1350" b="1">
                <a:solidFill>
                  <a:srgbClr val="E8B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E8B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手绘设计能力</a:t>
            </a:r>
            <a:endParaRPr sz="1350" b="1">
              <a:solidFill>
                <a:srgbClr val="E8B04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09600" y="742950"/>
            <a:ext cx="109728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l">
              <a:lnSpc>
                <a:spcPct val="135000"/>
              </a:lnSpc>
              <a:buNone/>
              <a:defRPr sz="2700" b="1">
                <a:solidFill>
                  <a:srgbClr val="F4F1E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sym typeface="+mn-ea"/>
              </a:rPr>
              <a:t>从概念到成品：三视图、细化与材质参考</a:t>
            </a:r>
            <a:endParaRPr sz="2700" b="1">
              <a:solidFill>
                <a:srgbClr val="F4F1E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圆角矩形 2"/>
          <p:cNvSpPr>
            <a:spLocks noGrp="1"/>
          </p:cNvSpPr>
          <p:nvPr/>
        </p:nvSpPr>
        <p:spPr>
          <a:xfrm>
            <a:off x="609600" y="1428750"/>
            <a:ext cx="10972800" cy="9525"/>
          </a:xfrm>
          <a:prstGeom prst="roundRect">
            <a:avLst>
              <a:gd name="adj" fmla="val 50000"/>
            </a:avLst>
          </a:prstGeom>
          <a:solidFill>
            <a:srgbClr val="232A33"/>
          </a:solidFill>
          <a:ln w="9525">
            <a:noFill/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6438900"/>
            <a:ext cx="4572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l">
              <a:lnSpc>
                <a:spcPct val="135000"/>
              </a:lnSpc>
              <a:buNone/>
              <a:defRPr sz="1050">
                <a:solidFill>
                  <a:srgbClr val="6E76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>
                <a:solidFill>
                  <a:srgbClr val="6E76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张斌 · 游戏美术总监</a:t>
            </a:r>
            <a:endParaRPr sz="1050">
              <a:solidFill>
                <a:srgbClr val="6E768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1201400" y="6438900"/>
            <a:ext cx="4572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5000"/>
              </a:lnSpc>
              <a:buNone/>
              <a:defRPr sz="1050">
                <a:solidFill>
                  <a:srgbClr val="6E76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1050">
                <a:solidFill>
                  <a:srgbClr val="6E76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18</a:t>
            </a:r>
            <a:endParaRPr lang="en-US" sz="1050">
              <a:solidFill>
                <a:srgbClr val="6E768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4" name="图片 2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t="31245" b="31245"/>
          <a:stretch>
            <a:fillRect/>
          </a:stretch>
        </p:blipFill>
        <p:spPr>
          <a:xfrm>
            <a:off x="609600" y="1600200"/>
            <a:ext cx="5219700" cy="2000250"/>
          </a:xfrm>
          <a:prstGeom prst="roundRect">
            <a:avLst>
              <a:gd name="adj" fmla="val 3810"/>
            </a:avLst>
          </a:prstGeom>
        </p:spPr>
      </p:pic>
      <p:sp>
        <p:nvSpPr>
          <p:cNvPr id="7" name="圆角矩形 6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609600" y="1600200"/>
            <a:ext cx="5219700" cy="2000250"/>
          </a:xfrm>
          <a:prstGeom prst="roundRect">
            <a:avLst>
              <a:gd name="adj" fmla="val 3810"/>
            </a:avLst>
          </a:prstGeom>
          <a:noFill/>
          <a:ln w="9525">
            <a:solidFill>
              <a:srgbClr val="2E3540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609600" y="3629025"/>
            <a:ext cx="5219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ctr">
              <a:lnSpc>
                <a:spcPct val="135000"/>
              </a:lnSpc>
              <a:buNone/>
              <a:defRPr sz="1200">
                <a:solidFill>
                  <a:srgbClr val="A7AF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>
                <a:solidFill>
                  <a:srgbClr val="A7AF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泡泡</a:t>
            </a:r>
            <a:endParaRPr sz="1200">
              <a:solidFill>
                <a:srgbClr val="A7AF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7" name="图片 26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rcRect t="22483" b="22483"/>
          <a:stretch>
            <a:fillRect/>
          </a:stretch>
        </p:blipFill>
        <p:spPr>
          <a:xfrm>
            <a:off x="6210300" y="1600200"/>
            <a:ext cx="5219700" cy="2000250"/>
          </a:xfrm>
          <a:prstGeom prst="roundRect">
            <a:avLst>
              <a:gd name="adj" fmla="val 3810"/>
            </a:avLst>
          </a:prstGeom>
        </p:spPr>
      </p:pic>
      <p:sp>
        <p:nvSpPr>
          <p:cNvPr id="10" name="圆角矩形 9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6210300" y="1600200"/>
            <a:ext cx="5219700" cy="2000250"/>
          </a:xfrm>
          <a:prstGeom prst="roundRect">
            <a:avLst>
              <a:gd name="adj" fmla="val 3810"/>
            </a:avLst>
          </a:prstGeom>
          <a:noFill/>
          <a:ln w="9525">
            <a:solidFill>
              <a:srgbClr val="2E3540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6210300" y="3629025"/>
            <a:ext cx="5219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ctr">
              <a:lnSpc>
                <a:spcPct val="135000"/>
              </a:lnSpc>
              <a:buNone/>
              <a:defRPr sz="1200">
                <a:solidFill>
                  <a:srgbClr val="A7AF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>
                <a:solidFill>
                  <a:srgbClr val="A7AF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月牙武士</a:t>
            </a:r>
            <a:endParaRPr sz="1200">
              <a:solidFill>
                <a:srgbClr val="A7AF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0" name="图片 29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/>
          <a:srcRect t="32999" b="32999"/>
          <a:stretch>
            <a:fillRect/>
          </a:stretch>
        </p:blipFill>
        <p:spPr>
          <a:xfrm>
            <a:off x="609600" y="3930650"/>
            <a:ext cx="5219700" cy="2000250"/>
          </a:xfrm>
          <a:prstGeom prst="roundRect">
            <a:avLst>
              <a:gd name="adj" fmla="val 3810"/>
            </a:avLst>
          </a:prstGeom>
        </p:spPr>
      </p:pic>
      <p:sp>
        <p:nvSpPr>
          <p:cNvPr id="13" name="圆角矩形 12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609600" y="3924300"/>
            <a:ext cx="5219700" cy="2000250"/>
          </a:xfrm>
          <a:prstGeom prst="roundRect">
            <a:avLst>
              <a:gd name="adj" fmla="val 3810"/>
            </a:avLst>
          </a:prstGeom>
          <a:noFill/>
          <a:ln w="9525">
            <a:solidFill>
              <a:srgbClr val="2E3540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609600" y="5949315"/>
            <a:ext cx="5219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ctr">
              <a:lnSpc>
                <a:spcPct val="135000"/>
              </a:lnSpc>
              <a:buNone/>
              <a:defRPr sz="1200">
                <a:solidFill>
                  <a:srgbClr val="A7AF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>
                <a:solidFill>
                  <a:srgbClr val="A7AF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罗莎莉亚</a:t>
            </a:r>
            <a:endParaRPr sz="1200">
              <a:solidFill>
                <a:srgbClr val="A7AF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3" name="图片 32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/>
          <a:srcRect t="34025" b="34025"/>
          <a:stretch>
            <a:fillRect/>
          </a:stretch>
        </p:blipFill>
        <p:spPr>
          <a:xfrm>
            <a:off x="6210300" y="3924300"/>
            <a:ext cx="5219700" cy="2000250"/>
          </a:xfrm>
          <a:prstGeom prst="roundRect">
            <a:avLst>
              <a:gd name="adj" fmla="val 3810"/>
            </a:avLst>
          </a:prstGeom>
        </p:spPr>
      </p:pic>
      <p:sp>
        <p:nvSpPr>
          <p:cNvPr id="16" name="圆角矩形 15"/>
          <p:cNvSpPr>
            <a:spLocks noGrp="1"/>
          </p:cNvSpPr>
          <p:nvPr>
            <p:custDataLst>
              <p:tags r:id="rId15"/>
            </p:custDataLst>
          </p:nvPr>
        </p:nvSpPr>
        <p:spPr>
          <a:xfrm>
            <a:off x="6210300" y="3930650"/>
            <a:ext cx="5219700" cy="2000250"/>
          </a:xfrm>
          <a:prstGeom prst="roundRect">
            <a:avLst>
              <a:gd name="adj" fmla="val 3810"/>
            </a:avLst>
          </a:prstGeom>
          <a:noFill/>
          <a:ln w="9525">
            <a:solidFill>
              <a:srgbClr val="2E3540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>
            <p:custDataLst>
              <p:tags r:id="rId16"/>
            </p:custDataLst>
          </p:nvPr>
        </p:nvSpPr>
        <p:spPr>
          <a:xfrm>
            <a:off x="6210300" y="5949315"/>
            <a:ext cx="5219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ctr">
              <a:lnSpc>
                <a:spcPct val="135000"/>
              </a:lnSpc>
              <a:buNone/>
              <a:defRPr sz="1200">
                <a:solidFill>
                  <a:srgbClr val="A7AF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>
                <a:solidFill>
                  <a:srgbClr val="A7AF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立绘</a:t>
            </a:r>
            <a:endParaRPr sz="1200">
              <a:solidFill>
                <a:srgbClr val="A7AF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09600" y="6172200"/>
            <a:ext cx="10972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ctr">
              <a:lnSpc>
                <a:spcPct val="135000"/>
              </a:lnSpc>
              <a:buNone/>
              <a:defRPr sz="1200">
                <a:solidFill>
                  <a:srgbClr val="A7AF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solidFill>
                  <a:srgbClr val="C6CCD3"/>
                </a:solidFill>
                <a:sym typeface="+mn-ea"/>
              </a:rPr>
              <a:t>三视图、设计细化、拆分与材质参考完整呈现，确保概念可被 3D 团队稳定还原。</a:t>
            </a:r>
            <a:endParaRPr sz="1200">
              <a:solidFill>
                <a:srgbClr val="A7AF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3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8" name="矩形 17"/>
          <p:cNvSpPr>
            <a:spLocks noGrp="1"/>
          </p:cNvSpPr>
          <p:nvPr/>
        </p:nvSpPr>
        <p:spPr>
          <a:xfrm>
            <a:off x="609600" y="438150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l">
              <a:lnSpc>
                <a:spcPct val="135000"/>
              </a:lnSpc>
              <a:buNone/>
              <a:defRPr sz="1350" b="1">
                <a:solidFill>
                  <a:srgbClr val="E8B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E8B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VALUE</a:t>
            </a:r>
            <a:endParaRPr sz="1350" b="1">
              <a:solidFill>
                <a:srgbClr val="E8B04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09600" y="742950"/>
            <a:ext cx="109728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l">
              <a:lnSpc>
                <a:spcPct val="135000"/>
              </a:lnSpc>
              <a:buNone/>
              <a:defRPr sz="2700" b="1">
                <a:solidFill>
                  <a:srgbClr val="F4F1E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1">
                <a:solidFill>
                  <a:srgbClr val="F4F1E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管理能落地，产品看得见，设计有手感</a:t>
            </a:r>
            <a:endParaRPr sz="2700" b="1">
              <a:solidFill>
                <a:srgbClr val="F4F1E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圆角矩形 2"/>
          <p:cNvSpPr>
            <a:spLocks noGrp="1"/>
          </p:cNvSpPr>
          <p:nvPr/>
        </p:nvSpPr>
        <p:spPr>
          <a:xfrm>
            <a:off x="609600" y="1428750"/>
            <a:ext cx="10972800" cy="9525"/>
          </a:xfrm>
          <a:prstGeom prst="roundRect">
            <a:avLst>
              <a:gd name="adj" fmla="val 50000"/>
            </a:avLst>
          </a:prstGeom>
          <a:solidFill>
            <a:srgbClr val="232A33"/>
          </a:solidFill>
          <a:ln w="9525">
            <a:noFill/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6438900"/>
            <a:ext cx="4572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l">
              <a:lnSpc>
                <a:spcPct val="135000"/>
              </a:lnSpc>
              <a:buNone/>
              <a:defRPr sz="1050">
                <a:solidFill>
                  <a:srgbClr val="6E76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>
                <a:solidFill>
                  <a:srgbClr val="6E76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张斌 · 游戏美术总监</a:t>
            </a:r>
            <a:endParaRPr sz="1050">
              <a:solidFill>
                <a:srgbClr val="6E768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1201400" y="6438900"/>
            <a:ext cx="4572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5000"/>
              </a:lnSpc>
              <a:buNone/>
              <a:defRPr sz="1050">
                <a:solidFill>
                  <a:srgbClr val="6E76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>
                <a:solidFill>
                  <a:srgbClr val="6E76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19</a:t>
            </a:r>
            <a:endParaRPr sz="1050">
              <a:solidFill>
                <a:srgbClr val="6E768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09600" y="1809750"/>
            <a:ext cx="1097280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ctr">
              <a:lnSpc>
                <a:spcPct val="155000"/>
              </a:lnSpc>
              <a:buNone/>
              <a:defRPr sz="1575">
                <a:solidFill>
                  <a:srgbClr val="D8DCE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>
                <a:sym typeface="+mn-ea"/>
              </a:rPr>
              <a:t>15 年以上角色设计与团队管理经验，经历覆盖 MMO、大世界、</a:t>
            </a:r>
            <a:r>
              <a:rPr lang="en-US" sz="1650">
                <a:sym typeface="+mn-ea"/>
              </a:rPr>
              <a:t>RPG</a:t>
            </a:r>
            <a:r>
              <a:rPr lang="zh-CN" altLang="en-US" sz="1650">
                <a:sym typeface="+mn-ea"/>
              </a:rPr>
              <a:t>等多类型产品，擅长卡通风格化设计</a:t>
            </a:r>
            <a:r>
              <a:rPr sz="1650">
                <a:sym typeface="+mn-ea"/>
              </a:rPr>
              <a:t>；</a:t>
            </a:r>
            <a:r>
              <a:rPr lang="zh-CN" sz="1650">
                <a:sym typeface="+mn-ea"/>
              </a:rPr>
              <a:t>多</a:t>
            </a:r>
            <a:r>
              <a:rPr sz="1650">
                <a:sym typeface="+mn-ea"/>
              </a:rPr>
              <a:t>款 0-1 项目从风格孵化到上线落地的完整</a:t>
            </a:r>
            <a:r>
              <a:rPr lang="zh-CN" sz="1650">
                <a:sym typeface="+mn-ea"/>
              </a:rPr>
              <a:t>开发</a:t>
            </a:r>
            <a:r>
              <a:rPr sz="1650">
                <a:sym typeface="+mn-ea"/>
              </a:rPr>
              <a:t>过程。</a:t>
            </a:r>
            <a:endParaRPr sz="1650">
              <a:solidFill>
                <a:srgbClr val="D8DCE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1295400" y="3429000"/>
            <a:ext cx="2857500" cy="1143000"/>
          </a:xfrm>
          <a:prstGeom prst="roundRect">
            <a:avLst>
              <a:gd name="adj" fmla="val 6667"/>
            </a:avLst>
          </a:prstGeom>
          <a:solidFill>
            <a:srgbClr val="171C22"/>
          </a:solidFill>
          <a:ln w="9525">
            <a:solidFill>
              <a:srgbClr val="2A3038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1295400" y="3676650"/>
            <a:ext cx="2857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ctr">
              <a:lnSpc>
                <a:spcPct val="135000"/>
              </a:lnSpc>
              <a:buNone/>
              <a:defRPr sz="1950" b="1">
                <a:solidFill>
                  <a:srgbClr val="E8B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E8B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管理</a:t>
            </a:r>
            <a:endParaRPr sz="1950" b="1">
              <a:solidFill>
                <a:srgbClr val="E8B04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295400" y="4095750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ctr">
              <a:lnSpc>
                <a:spcPct val="135000"/>
              </a:lnSpc>
              <a:buNone/>
              <a:defRPr sz="1200">
                <a:solidFill>
                  <a:srgbClr val="A7AF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>
                <a:solidFill>
                  <a:srgbClr val="A7AF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SOP / 管线 / 团队 / 终审</a:t>
            </a:r>
            <a:endParaRPr sz="1200">
              <a:solidFill>
                <a:srgbClr val="A7AF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4533900" y="3429000"/>
            <a:ext cx="2857500" cy="1143000"/>
          </a:xfrm>
          <a:prstGeom prst="roundRect">
            <a:avLst>
              <a:gd name="adj" fmla="val 6667"/>
            </a:avLst>
          </a:prstGeom>
          <a:solidFill>
            <a:srgbClr val="171C22"/>
          </a:solidFill>
          <a:ln w="9525">
            <a:solidFill>
              <a:srgbClr val="2A3038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4533900" y="3676650"/>
            <a:ext cx="2857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ctr">
              <a:lnSpc>
                <a:spcPct val="135000"/>
              </a:lnSpc>
              <a:buNone/>
              <a:defRPr sz="1950" b="1">
                <a:solidFill>
                  <a:srgbClr val="E8B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E8B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产品</a:t>
            </a:r>
            <a:endParaRPr sz="1950" b="1">
              <a:solidFill>
                <a:srgbClr val="E8B04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4533900" y="4095750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ctr">
              <a:lnSpc>
                <a:spcPct val="135000"/>
              </a:lnSpc>
              <a:buNone/>
              <a:defRPr sz="1200">
                <a:solidFill>
                  <a:srgbClr val="A7AF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>
                <a:solidFill>
                  <a:srgbClr val="A7AF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0-1 / 迭代 / 发行 / 商业化</a:t>
            </a:r>
            <a:endParaRPr sz="1200">
              <a:solidFill>
                <a:srgbClr val="A7AF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7772400" y="3429000"/>
            <a:ext cx="2857500" cy="1143000"/>
          </a:xfrm>
          <a:prstGeom prst="roundRect">
            <a:avLst>
              <a:gd name="adj" fmla="val 6667"/>
            </a:avLst>
          </a:prstGeom>
          <a:solidFill>
            <a:srgbClr val="171C22"/>
          </a:solidFill>
          <a:ln w="9525">
            <a:solidFill>
              <a:srgbClr val="2A3038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7772400" y="3676650"/>
            <a:ext cx="2857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ctr">
              <a:lnSpc>
                <a:spcPct val="135000"/>
              </a:lnSpc>
              <a:buNone/>
              <a:defRPr sz="1950" b="1">
                <a:solidFill>
                  <a:srgbClr val="E8B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E8B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设计</a:t>
            </a:r>
            <a:endParaRPr sz="1950" b="1">
              <a:solidFill>
                <a:srgbClr val="E8B04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7772400" y="4095750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ctr">
              <a:lnSpc>
                <a:spcPct val="135000"/>
              </a:lnSpc>
              <a:buNone/>
              <a:defRPr sz="1200">
                <a:solidFill>
                  <a:srgbClr val="A7AF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>
                <a:solidFill>
                  <a:srgbClr val="A7AF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风格 / 角色 / 立绘 / 落地</a:t>
            </a:r>
            <a:endParaRPr sz="1200">
              <a:solidFill>
                <a:srgbClr val="A7AF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2857500" y="5143500"/>
            <a:ext cx="6477000" cy="9525"/>
          </a:xfrm>
          <a:prstGeom prst="roundRect">
            <a:avLst>
              <a:gd name="adj" fmla="val 50000"/>
            </a:avLst>
          </a:prstGeom>
          <a:solidFill>
            <a:srgbClr val="232A33"/>
          </a:solidFill>
          <a:ln w="9525">
            <a:noFill/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0" y="5391150"/>
            <a:ext cx="12192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ctr">
              <a:lnSpc>
                <a:spcPct val="135000"/>
              </a:lnSpc>
              <a:buNone/>
              <a:defRPr sz="1650" b="1">
                <a:solidFill>
                  <a:srgbClr val="F4F1E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F4F1E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张斌 ｜ 深圳 ｜ 18600805208 ｜ 860404@qq.com</a:t>
            </a:r>
            <a:endParaRPr sz="1650" b="1">
              <a:solidFill>
                <a:srgbClr val="F4F1E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46.5,&quot;left&quot;:48,&quot;top&quot;:132,&quot;width&quot;:864}"/>
</p:tagLst>
</file>

<file path=ppt/tags/tag2.xml><?xml version="1.0" encoding="utf-8"?>
<p:tagLst xmlns:p="http://schemas.openxmlformats.org/presentationml/2006/main">
  <p:tag name="KSO_WM_DIAGRAM_VIRTUALLY_FRAME" val="{&quot;height&quot;:346.5,&quot;left&quot;:48,&quot;top&quot;:132,&quot;width&quot;:864}"/>
</p:tagLst>
</file>

<file path=ppt/tags/tag3.xml><?xml version="1.0" encoding="utf-8"?>
<p:tagLst xmlns:p="http://schemas.openxmlformats.org/presentationml/2006/main">
  <p:tag name="KSO_WM_DIAGRAM_VIRTUALLY_FRAME" val="{&quot;height&quot;:346.5,&quot;left&quot;:48,&quot;top&quot;:132,&quot;width&quot;:864}"/>
</p:tagLst>
</file>

<file path=ppt/tags/tag4.xml><?xml version="1.0" encoding="utf-8"?>
<p:tagLst xmlns:p="http://schemas.openxmlformats.org/presentationml/2006/main">
  <p:tag name="KSO_WM_DIAGRAM_VIRTUALLY_FRAME" val="{&quot;height&quot;:346.5,&quot;left&quot;:48,&quot;top&quot;:132,&quot;width&quot;:864}"/>
</p:tagLst>
</file>

<file path=ppt/tags/tag5.xml><?xml version="1.0" encoding="utf-8"?>
<p:tagLst xmlns:p="http://schemas.openxmlformats.org/presentationml/2006/main">
  <p:tag name="KSO_WM_DIAGRAM_VIRTUALLY_FRAME" val="{&quot;height&quot;:346.5,&quot;left&quot;:48,&quot;top&quot;:132,&quot;width&quot;:864}"/>
</p:tagLst>
</file>

<file path=ppt/tags/tag6.xml><?xml version="1.0" encoding="utf-8"?>
<p:tagLst xmlns:p="http://schemas.openxmlformats.org/presentationml/2006/main">
  <p:tag name="KSO_WM_DIAGRAM_VIRTUALLY_FRAME" val="{&quot;height&quot;:346.5,&quot;left&quot;:48,&quot;top&quot;:132,&quot;width&quot;:864}"/>
</p:tagLst>
</file>

<file path=ppt/tags/tag7.xml><?xml version="1.0" encoding="utf-8"?>
<p:tagLst xmlns:p="http://schemas.openxmlformats.org/presentationml/2006/main">
  <p:tag name="KSO_WM_DIAGRAM_VIRTUALLY_FRAME" val="{&quot;height&quot;:346.5,&quot;left&quot;:48,&quot;top&quot;:132,&quot;width&quot;:864}"/>
</p:tagLst>
</file>

<file path=ppt/tags/tag8.xml><?xml version="1.0" encoding="utf-8"?>
<p:tagLst xmlns:p="http://schemas.openxmlformats.org/presentationml/2006/main">
  <p:tag name="KSO_WM_DIAGRAM_VIRTUALLY_FRAME" val="{&quot;height&quot;:346.5,&quot;left&quot;:48,&quot;top&quot;:132,&quot;width&quot;:864}"/>
</p:tagLst>
</file>

<file path=ppt/tags/tag9.xml><?xml version="1.0" encoding="utf-8"?>
<p:tagLst xmlns:p="http://schemas.openxmlformats.org/presentationml/2006/main">
  <p:tag name="KSO_WM_DIAGRAM_VIRTUALLY_FRAME" val="{&quot;height&quot;:346.5,&quot;left&quot;:48,&quot;top&quot;:132,&quot;width&quot;:864}"/>
</p:tagLst>
</file>

<file path=ppt/tags/tag10.xml><?xml version="1.0" encoding="utf-8"?>
<p:tagLst xmlns:p="http://schemas.openxmlformats.org/presentationml/2006/main">
  <p:tag name="KSO_WM_DIAGRAM_VIRTUALLY_FRAME" val="{&quot;height&quot;:346.5,&quot;left&quot;:48,&quot;top&quot;:132,&quot;width&quot;:864}"/>
</p:tagLst>
</file>

<file path=ppt/tags/tag11.xml><?xml version="1.0" encoding="utf-8"?>
<p:tagLst xmlns:p="http://schemas.openxmlformats.org/presentationml/2006/main">
  <p:tag name="KSO_WM_DIAGRAM_VIRTUALLY_FRAME" val="{&quot;height&quot;:346.5,&quot;left&quot;:48,&quot;top&quot;:132,&quot;width&quot;:864}"/>
</p:tagLst>
</file>

<file path=ppt/tags/tag12.xml><?xml version="1.0" encoding="utf-8"?>
<p:tagLst xmlns:p="http://schemas.openxmlformats.org/presentationml/2006/main">
  <p:tag name="KSO_WM_DIAGRAM_VIRTUALLY_FRAME" val="{&quot;height&quot;:346.5,&quot;left&quot;:48,&quot;top&quot;:132,&quot;width&quot;:864}"/>
</p:tagLst>
</file>

<file path=ppt/tags/tag13.xml><?xml version="1.0" encoding="utf-8"?>
<p:tagLst xmlns:p="http://schemas.openxmlformats.org/presentationml/2006/main">
  <p:tag name="KSO_WM_DIAGRAM_VIRTUALLY_FRAME" val="{&quot;height&quot;:346.5,&quot;left&quot;:48,&quot;top&quot;:132,&quot;width&quot;:864}"/>
</p:tagLst>
</file>

<file path=ppt/tags/tag14.xml><?xml version="1.0" encoding="utf-8"?>
<p:tagLst xmlns:p="http://schemas.openxmlformats.org/presentationml/2006/main">
  <p:tag name="KSO_WM_DIAGRAM_VIRTUALLY_FRAME" val="{&quot;height&quot;:346.5,&quot;left&quot;:48,&quot;top&quot;:132,&quot;width&quot;:864}"/>
</p:tagLst>
</file>

<file path=ppt/tags/tag15.xml><?xml version="1.0" encoding="utf-8"?>
<p:tagLst xmlns:p="http://schemas.openxmlformats.org/presentationml/2006/main">
  <p:tag name="KSO_WM_DIAGRAM_VIRTUALLY_FRAME" val="{&quot;height&quot;:346.5,&quot;left&quot;:48,&quot;top&quot;:132,&quot;width&quot;:864}"/>
</p:tagLst>
</file>

<file path=ppt/tags/tag16.xml><?xml version="1.0" encoding="utf-8"?>
<p:tagLst xmlns:p="http://schemas.openxmlformats.org/presentationml/2006/main">
  <p:tag name="KSO_WM_DIAGRAM_VIRTUALLY_FRAME" val="{&quot;height&quot;:346.5,&quot;left&quot;:48,&quot;top&quot;:132,&quot;width&quot;:864}"/>
</p:tagLst>
</file>

<file path=ppt/tags/tag17.xml><?xml version="1.0" encoding="utf-8"?>
<p:tagLst xmlns:p="http://schemas.openxmlformats.org/presentationml/2006/main">
  <p:tag name="KSO_WM_DIAGRAM_VIRTUALLY_FRAME" val="{&quot;height&quot;:346.5,&quot;left&quot;:48,&quot;top&quot;:132,&quot;width&quot;:864}"/>
</p:tagLst>
</file>

<file path=ppt/tags/tag18.xml><?xml version="1.0" encoding="utf-8"?>
<p:tagLst xmlns:p="http://schemas.openxmlformats.org/presentationml/2006/main">
  <p:tag name="KSO_WM_DIAGRAM_VIRTUALLY_FRAME" val="{&quot;height&quot;:346.5,&quot;left&quot;:48,&quot;top&quot;:132,&quot;width&quot;:864}"/>
</p:tagLst>
</file>

<file path=ppt/tags/tag19.xml><?xml version="1.0" encoding="utf-8"?>
<p:tagLst xmlns:p="http://schemas.openxmlformats.org/presentationml/2006/main">
  <p:tag name="KSO_WM_DIAGRAM_VIRTUALLY_FRAME" val="{&quot;height&quot;:142.5,&quot;left&quot;:69,&quot;top&quot;:177,&quot;width&quot;:444}"/>
</p:tagLst>
</file>

<file path=ppt/tags/tag20.xml><?xml version="1.0" encoding="utf-8"?>
<p:tagLst xmlns:p="http://schemas.openxmlformats.org/presentationml/2006/main">
  <p:tag name="KSO_WM_DIAGRAM_VIRTUALLY_FRAME" val="{&quot;height&quot;:142.5,&quot;left&quot;:69,&quot;top&quot;:177,&quot;width&quot;:444}"/>
</p:tagLst>
</file>

<file path=ppt/tags/tag21.xml><?xml version="1.0" encoding="utf-8"?>
<p:tagLst xmlns:p="http://schemas.openxmlformats.org/presentationml/2006/main">
  <p:tag name="KSO_WM_DIAGRAM_VIRTUALLY_FRAME" val="{&quot;height&quot;:142.5,&quot;left&quot;:69,&quot;top&quot;:177,&quot;width&quot;:444}"/>
</p:tagLst>
</file>

<file path=ppt/tags/tag22.xml><?xml version="1.0" encoding="utf-8"?>
<p:tagLst xmlns:p="http://schemas.openxmlformats.org/presentationml/2006/main">
  <p:tag name="KSO_WM_DIAGRAM_VIRTUALLY_FRAME" val="{&quot;height&quot;:142.5,&quot;left&quot;:69,&quot;top&quot;:177,&quot;width&quot;:444}"/>
</p:tagLst>
</file>

<file path=ppt/tags/tag23.xml><?xml version="1.0" encoding="utf-8"?>
<p:tagLst xmlns:p="http://schemas.openxmlformats.org/presentationml/2006/main">
  <p:tag name="KSO_WM_DIAGRAM_VIRTUALLY_FRAME" val="{&quot;height&quot;:142.5,&quot;left&quot;:69,&quot;top&quot;:177,&quot;width&quot;:444}"/>
</p:tagLst>
</file>

<file path=ppt/tags/tag24.xml><?xml version="1.0" encoding="utf-8"?>
<p:tagLst xmlns:p="http://schemas.openxmlformats.org/presentationml/2006/main">
  <p:tag name="KSO_WM_DIAGRAM_VIRTUALLY_FRAME" val="{&quot;height&quot;:142.5,&quot;left&quot;:69,&quot;top&quot;:177,&quot;width&quot;:444}"/>
</p:tagLst>
</file>

<file path=ppt/tags/tag25.xml><?xml version="1.0" encoding="utf-8"?>
<p:tagLst xmlns:p="http://schemas.openxmlformats.org/presentationml/2006/main">
  <p:tag name="KSO_WM_DIAGRAM_VIRTUALLY_FRAME" val="{&quot;height&quot;:142.5,&quot;left&quot;:69,&quot;top&quot;:177,&quot;width&quot;:444}"/>
</p:tagLst>
</file>

<file path=ppt/tags/tag26.xml><?xml version="1.0" encoding="utf-8"?>
<p:tagLst xmlns:p="http://schemas.openxmlformats.org/presentationml/2006/main">
  <p:tag name="KSO_WM_DIAGRAM_VIRTUALLY_FRAME" val="{&quot;height&quot;:142.5,&quot;left&quot;:69,&quot;top&quot;:177,&quot;width&quot;:444}"/>
</p:tagLst>
</file>

<file path=ppt/tags/tag27.xml><?xml version="1.0" encoding="utf-8"?>
<p:tagLst xmlns:p="http://schemas.openxmlformats.org/presentationml/2006/main">
  <p:tag name="KSO_WM_DIAGRAM_VIRTUALLY_FRAME" val="{&quot;height&quot;:297,&quot;left&quot;:48,&quot;top&quot;:136.5,&quot;width&quot;:543}"/>
</p:tagLst>
</file>

<file path=ppt/tags/tag28.xml><?xml version="1.0" encoding="utf-8"?>
<p:tagLst xmlns:p="http://schemas.openxmlformats.org/presentationml/2006/main">
  <p:tag name="KSO_WM_DIAGRAM_VIRTUALLY_FRAME" val="{&quot;height&quot;:297,&quot;left&quot;:48,&quot;top&quot;:136.5,&quot;width&quot;:543}"/>
</p:tagLst>
</file>

<file path=ppt/tags/tag29.xml><?xml version="1.0" encoding="utf-8"?>
<p:tagLst xmlns:p="http://schemas.openxmlformats.org/presentationml/2006/main">
  <p:tag name="KSO_WM_DIAGRAM_VIRTUALLY_FRAME" val="{&quot;height&quot;:297,&quot;left&quot;:48,&quot;top&quot;:136.5,&quot;width&quot;:543}"/>
</p:tagLst>
</file>

<file path=ppt/tags/tag30.xml><?xml version="1.0" encoding="utf-8"?>
<p:tagLst xmlns:p="http://schemas.openxmlformats.org/presentationml/2006/main">
  <p:tag name="KSO_WM_DIAGRAM_VIRTUALLY_FRAME" val="{&quot;height&quot;:297,&quot;left&quot;:48,&quot;top&quot;:136.5,&quot;width&quot;:543}"/>
</p:tagLst>
</file>

<file path=ppt/tags/tag31.xml><?xml version="1.0" encoding="utf-8"?>
<p:tagLst xmlns:p="http://schemas.openxmlformats.org/presentationml/2006/main">
  <p:tag name="KSO_WM_DIAGRAM_VIRTUALLY_FRAME" val="{&quot;height&quot;:297,&quot;left&quot;:48,&quot;top&quot;:136.5,&quot;width&quot;:543}"/>
</p:tagLst>
</file>

<file path=ppt/tags/tag32.xml><?xml version="1.0" encoding="utf-8"?>
<p:tagLst xmlns:p="http://schemas.openxmlformats.org/presentationml/2006/main">
  <p:tag name="KSO_WM_DIAGRAM_VIRTUALLY_FRAME" val="{&quot;height&quot;:297,&quot;left&quot;:48,&quot;top&quot;:136.5,&quot;width&quot;:543}"/>
</p:tagLst>
</file>

<file path=ppt/tags/tag33.xml><?xml version="1.0" encoding="utf-8"?>
<p:tagLst xmlns:p="http://schemas.openxmlformats.org/presentationml/2006/main">
  <p:tag name="KSO_WM_DIAGRAM_VIRTUALLY_FRAME" val="{&quot;height&quot;:297,&quot;left&quot;:48,&quot;top&quot;:136.5,&quot;width&quot;:543}"/>
</p:tagLst>
</file>

<file path=ppt/tags/tag34.xml><?xml version="1.0" encoding="utf-8"?>
<p:tagLst xmlns:p="http://schemas.openxmlformats.org/presentationml/2006/main">
  <p:tag name="KSO_WM_DIAGRAM_VIRTUALLY_FRAME" val="{&quot;height&quot;:297,&quot;left&quot;:48,&quot;top&quot;:136.5,&quot;width&quot;:543}"/>
</p:tagLst>
</file>

<file path=ppt/tags/tag35.xml><?xml version="1.0" encoding="utf-8"?>
<p:tagLst xmlns:p="http://schemas.openxmlformats.org/presentationml/2006/main">
  <p:tag name="KSO_WM_DIAGRAM_VIRTUALLY_FRAME" val="{&quot;height&quot;:297,&quot;left&quot;:48,&quot;top&quot;:136.5,&quot;width&quot;:543}"/>
</p:tagLst>
</file>

<file path=ppt/tags/tag36.xml><?xml version="1.0" encoding="utf-8"?>
<p:tagLst xmlns:p="http://schemas.openxmlformats.org/presentationml/2006/main">
  <p:tag name="KSO_WM_DIAGRAM_VIRTUALLY_FRAME" val="{&quot;height&quot;:142.5,&quot;left&quot;:69,&quot;top&quot;:177,&quot;width&quot;:444}"/>
</p:tagLst>
</file>

<file path=ppt/tags/tag37.xml><?xml version="1.0" encoding="utf-8"?>
<p:tagLst xmlns:p="http://schemas.openxmlformats.org/presentationml/2006/main">
  <p:tag name="KSO_WM_DIAGRAM_VIRTUALLY_FRAME" val="{&quot;height&quot;:142.5,&quot;left&quot;:69,&quot;top&quot;:177,&quot;width&quot;:444}"/>
</p:tagLst>
</file>

<file path=ppt/tags/tag38.xml><?xml version="1.0" encoding="utf-8"?>
<p:tagLst xmlns:p="http://schemas.openxmlformats.org/presentationml/2006/main">
  <p:tag name="KSO_WM_DIAGRAM_VIRTUALLY_FRAME" val="{&quot;height&quot;:142.5,&quot;left&quot;:69,&quot;top&quot;:177,&quot;width&quot;:444}"/>
</p:tagLst>
</file>

<file path=ppt/tags/tag39.xml><?xml version="1.0" encoding="utf-8"?>
<p:tagLst xmlns:p="http://schemas.openxmlformats.org/presentationml/2006/main">
  <p:tag name="KSO_WM_DIAGRAM_VIRTUALLY_FRAME" val="{&quot;height&quot;:142.5,&quot;left&quot;:69,&quot;top&quot;:177,&quot;width&quot;:444}"/>
</p:tagLst>
</file>

<file path=ppt/tags/tag40.xml><?xml version="1.0" encoding="utf-8"?>
<p:tagLst xmlns:p="http://schemas.openxmlformats.org/presentationml/2006/main">
  <p:tag name="KSO_WM_DIAGRAM_VIRTUALLY_FRAME" val="{&quot;height&quot;:142.5,&quot;left&quot;:69,&quot;top&quot;:177,&quot;width&quot;:444}"/>
</p:tagLst>
</file>

<file path=ppt/tags/tag41.xml><?xml version="1.0" encoding="utf-8"?>
<p:tagLst xmlns:p="http://schemas.openxmlformats.org/presentationml/2006/main">
  <p:tag name="KSO_WM_DIAGRAM_VIRTUALLY_FRAME" val="{&quot;height&quot;:142.5,&quot;left&quot;:69,&quot;top&quot;:177,&quot;width&quot;:444}"/>
</p:tagLst>
</file>

<file path=ppt/tags/tag42.xml><?xml version="1.0" encoding="utf-8"?>
<p:tagLst xmlns:p="http://schemas.openxmlformats.org/presentationml/2006/main">
  <p:tag name="KSO_WM_DIAGRAM_VIRTUALLY_FRAME" val="{&quot;height&quot;:142.5,&quot;left&quot;:69,&quot;top&quot;:177,&quot;width&quot;:444}"/>
</p:tagLst>
</file>

<file path=ppt/tags/tag43.xml><?xml version="1.0" encoding="utf-8"?>
<p:tagLst xmlns:p="http://schemas.openxmlformats.org/presentationml/2006/main">
  <p:tag name="KSO_WM_DIAGRAM_VIRTUALLY_FRAME" val="{&quot;height&quot;:142.5,&quot;left&quot;:69,&quot;top&quot;:177,&quot;width&quot;:444}"/>
</p:tagLst>
</file>

<file path=ppt/tags/tag44.xml><?xml version="1.0" encoding="utf-8"?>
<p:tagLst xmlns:p="http://schemas.openxmlformats.org/presentationml/2006/main">
  <p:tag name="KSO_WM_DIAGRAM_VIRTUALLY_FRAME" val="{&quot;height&quot;:360,&quot;left&quot;:48,&quot;top&quot;:126,&quot;width&quot;:852}"/>
</p:tagLst>
</file>

<file path=ppt/tags/tag45.xml><?xml version="1.0" encoding="utf-8"?>
<p:tagLst xmlns:p="http://schemas.openxmlformats.org/presentationml/2006/main">
  <p:tag name="KSO_WM_DIAGRAM_VIRTUALLY_FRAME" val="{&quot;height&quot;:360,&quot;left&quot;:48,&quot;top&quot;:126,&quot;width&quot;:852}"/>
</p:tagLst>
</file>

<file path=ppt/tags/tag46.xml><?xml version="1.0" encoding="utf-8"?>
<p:tagLst xmlns:p="http://schemas.openxmlformats.org/presentationml/2006/main">
  <p:tag name="KSO_WM_DIAGRAM_VIRTUALLY_FRAME" val="{&quot;height&quot;:360,&quot;left&quot;:48,&quot;top&quot;:126,&quot;width&quot;:852}"/>
</p:tagLst>
</file>

<file path=ppt/tags/tag47.xml><?xml version="1.0" encoding="utf-8"?>
<p:tagLst xmlns:p="http://schemas.openxmlformats.org/presentationml/2006/main">
  <p:tag name="KSO_WM_DIAGRAM_VIRTUALLY_FRAME" val="{&quot;height&quot;:360,&quot;left&quot;:48,&quot;top&quot;:126,&quot;width&quot;:852}"/>
</p:tagLst>
</file>

<file path=ppt/tags/tag48.xml><?xml version="1.0" encoding="utf-8"?>
<p:tagLst xmlns:p="http://schemas.openxmlformats.org/presentationml/2006/main">
  <p:tag name="KSO_WM_DIAGRAM_VIRTUALLY_FRAME" val="{&quot;height&quot;:360,&quot;left&quot;:48,&quot;top&quot;:126,&quot;width&quot;:852}"/>
</p:tagLst>
</file>

<file path=ppt/tags/tag49.xml><?xml version="1.0" encoding="utf-8"?>
<p:tagLst xmlns:p="http://schemas.openxmlformats.org/presentationml/2006/main">
  <p:tag name="KSO_WM_DIAGRAM_VIRTUALLY_FRAME" val="{&quot;height&quot;:360,&quot;left&quot;:48,&quot;top&quot;:126,&quot;width&quot;:852}"/>
</p:tagLst>
</file>

<file path=ppt/tags/tag50.xml><?xml version="1.0" encoding="utf-8"?>
<p:tagLst xmlns:p="http://schemas.openxmlformats.org/presentationml/2006/main">
  <p:tag name="KSO_WM_DIAGRAM_VIRTUALLY_FRAME" val="{&quot;height&quot;:360,&quot;left&quot;:48,&quot;top&quot;:126,&quot;width&quot;:852}"/>
</p:tagLst>
</file>

<file path=ppt/tags/tag51.xml><?xml version="1.0" encoding="utf-8"?>
<p:tagLst xmlns:p="http://schemas.openxmlformats.org/presentationml/2006/main">
  <p:tag name="KSO_WM_DIAGRAM_VIRTUALLY_FRAME" val="{&quot;height&quot;:360,&quot;left&quot;:48,&quot;top&quot;:126,&quot;width&quot;:852}"/>
</p:tagLst>
</file>

<file path=ppt/tags/tag52.xml><?xml version="1.0" encoding="utf-8"?>
<p:tagLst xmlns:p="http://schemas.openxmlformats.org/presentationml/2006/main">
  <p:tag name="KSO_WM_DIAGRAM_VIRTUALLY_FRAME" val="{&quot;height&quot;:360,&quot;left&quot;:48,&quot;top&quot;:126,&quot;width&quot;:852}"/>
</p:tagLst>
</file>

<file path=ppt/tags/tag53.xml><?xml version="1.0" encoding="utf-8"?>
<p:tagLst xmlns:p="http://schemas.openxmlformats.org/presentationml/2006/main">
  <p:tag name="KSO_WM_DIAGRAM_VIRTUALLY_FRAME" val="{&quot;height&quot;:360,&quot;left&quot;:48,&quot;top&quot;:126,&quot;width&quot;:852}"/>
</p:tagLst>
</file>

<file path=ppt/tags/tag54.xml><?xml version="1.0" encoding="utf-8"?>
<p:tagLst xmlns:p="http://schemas.openxmlformats.org/presentationml/2006/main">
  <p:tag name="KSO_WM_DIAGRAM_VIRTUALLY_FRAME" val="{&quot;height&quot;:360,&quot;left&quot;:48,&quot;top&quot;:126,&quot;width&quot;:852}"/>
</p:tagLst>
</file>

<file path=ppt/tags/tag55.xml><?xml version="1.0" encoding="utf-8"?>
<p:tagLst xmlns:p="http://schemas.openxmlformats.org/presentationml/2006/main">
  <p:tag name="KSO_WM_DIAGRAM_VIRTUALLY_FRAME" val="{&quot;height&quot;:360,&quot;left&quot;:48,&quot;top&quot;:126,&quot;width&quot;:852}"/>
</p:tagLst>
</file>

<file path=ppt/tags/tag56.xml><?xml version="1.0" encoding="utf-8"?>
<p:tagLst xmlns:p="http://schemas.openxmlformats.org/presentationml/2006/main">
  <p:tag name="KSO_WM_DIAGRAM_VIRTUALLY_FRAME" val="{&quot;height&quot;:368,&quot;left&quot;:48,&quot;top&quot;:126,&quot;width&quot;:852}"/>
</p:tagLst>
</file>

<file path=ppt/tags/tag57.xml><?xml version="1.0" encoding="utf-8"?>
<p:tagLst xmlns:p="http://schemas.openxmlformats.org/presentationml/2006/main">
  <p:tag name="KSO_WM_DIAGRAM_VIRTUALLY_FRAME" val="{&quot;height&quot;:368,&quot;left&quot;:48,&quot;top&quot;:126,&quot;width&quot;:852}"/>
</p:tagLst>
</file>

<file path=ppt/tags/tag58.xml><?xml version="1.0" encoding="utf-8"?>
<p:tagLst xmlns:p="http://schemas.openxmlformats.org/presentationml/2006/main">
  <p:tag name="KSO_WM_DIAGRAM_VIRTUALLY_FRAME" val="{&quot;height&quot;:368,&quot;left&quot;:48,&quot;top&quot;:126,&quot;width&quot;:852}"/>
</p:tagLst>
</file>

<file path=ppt/tags/tag59.xml><?xml version="1.0" encoding="utf-8"?>
<p:tagLst xmlns:p="http://schemas.openxmlformats.org/presentationml/2006/main">
  <p:tag name="KSO_WM_DIAGRAM_VIRTUALLY_FRAME" val="{&quot;height&quot;:368,&quot;left&quot;:48,&quot;top&quot;:126,&quot;width&quot;:852}"/>
</p:tagLst>
</file>

<file path=ppt/tags/tag60.xml><?xml version="1.0" encoding="utf-8"?>
<p:tagLst xmlns:p="http://schemas.openxmlformats.org/presentationml/2006/main">
  <p:tag name="KSO_WM_DIAGRAM_VIRTUALLY_FRAME" val="{&quot;height&quot;:368,&quot;left&quot;:48,&quot;top&quot;:126,&quot;width&quot;:852}"/>
</p:tagLst>
</file>

<file path=ppt/tags/tag61.xml><?xml version="1.0" encoding="utf-8"?>
<p:tagLst xmlns:p="http://schemas.openxmlformats.org/presentationml/2006/main">
  <p:tag name="KSO_WM_DIAGRAM_VIRTUALLY_FRAME" val="{&quot;height&quot;:368,&quot;left&quot;:48,&quot;top&quot;:126,&quot;width&quot;:852}"/>
</p:tagLst>
</file>

<file path=ppt/tags/tag62.xml><?xml version="1.0" encoding="utf-8"?>
<p:tagLst xmlns:p="http://schemas.openxmlformats.org/presentationml/2006/main">
  <p:tag name="KSO_WM_DIAGRAM_VIRTUALLY_FRAME" val="{&quot;height&quot;:368,&quot;left&quot;:48,&quot;top&quot;:126,&quot;width&quot;:852}"/>
</p:tagLst>
</file>

<file path=ppt/tags/tag63.xml><?xml version="1.0" encoding="utf-8"?>
<p:tagLst xmlns:p="http://schemas.openxmlformats.org/presentationml/2006/main">
  <p:tag name="KSO_WM_DIAGRAM_VIRTUALLY_FRAME" val="{&quot;height&quot;:368,&quot;left&quot;:48,&quot;top&quot;:126,&quot;width&quot;:852}"/>
</p:tagLst>
</file>

<file path=ppt/tags/tag64.xml><?xml version="1.0" encoding="utf-8"?>
<p:tagLst xmlns:p="http://schemas.openxmlformats.org/presentationml/2006/main">
  <p:tag name="KSO_WM_DIAGRAM_VIRTUALLY_FRAME" val="{&quot;height&quot;:368,&quot;left&quot;:48,&quot;top&quot;:126,&quot;width&quot;:852}"/>
</p:tagLst>
</file>

<file path=ppt/tags/tag65.xml><?xml version="1.0" encoding="utf-8"?>
<p:tagLst xmlns:p="http://schemas.openxmlformats.org/presentationml/2006/main">
  <p:tag name="KSO_WM_DIAGRAM_VIRTUALLY_FRAME" val="{&quot;height&quot;:368,&quot;left&quot;:48,&quot;top&quot;:126,&quot;width&quot;:852}"/>
</p:tagLst>
</file>

<file path=ppt/tags/tag66.xml><?xml version="1.0" encoding="utf-8"?>
<p:tagLst xmlns:p="http://schemas.openxmlformats.org/presentationml/2006/main">
  <p:tag name="KSO_WM_DIAGRAM_VIRTUALLY_FRAME" val="{&quot;height&quot;:368,&quot;left&quot;:48,&quot;top&quot;:126,&quot;width&quot;:852}"/>
</p:tagLst>
</file>

<file path=ppt/tags/tag67.xml><?xml version="1.0" encoding="utf-8"?>
<p:tagLst xmlns:p="http://schemas.openxmlformats.org/presentationml/2006/main">
  <p:tag name="KSO_WM_DIAGRAM_VIRTUALLY_FRAME" val="{&quot;height&quot;:368,&quot;left&quot;:48,&quot;top&quot;:126,&quot;width&quot;:852}"/>
</p:tagLst>
</file>

<file path=ppt/tags/tag68.xml><?xml version="1.0" encoding="utf-8"?>
<p:tagLst xmlns:p="http://schemas.openxmlformats.org/presentationml/2006/main">
  <p:tag name="KSO_WM_DIAGRAM_VIRTUALLY_FRAME" val="{&quot;height&quot;:367.5,&quot;left&quot;:48,&quot;top&quot;:126,&quot;width&quot;:852}"/>
</p:tagLst>
</file>

<file path=ppt/tags/tag69.xml><?xml version="1.0" encoding="utf-8"?>
<p:tagLst xmlns:p="http://schemas.openxmlformats.org/presentationml/2006/main">
  <p:tag name="KSO_WM_DIAGRAM_VIRTUALLY_FRAME" val="{&quot;height&quot;:367.5,&quot;left&quot;:48,&quot;top&quot;:126,&quot;width&quot;:852}"/>
</p:tagLst>
</file>

<file path=ppt/tags/tag70.xml><?xml version="1.0" encoding="utf-8"?>
<p:tagLst xmlns:p="http://schemas.openxmlformats.org/presentationml/2006/main">
  <p:tag name="KSO_WM_DIAGRAM_VIRTUALLY_FRAME" val="{&quot;height&quot;:367.5,&quot;left&quot;:48,&quot;top&quot;:126,&quot;width&quot;:852}"/>
</p:tagLst>
</file>

<file path=ppt/tags/tag71.xml><?xml version="1.0" encoding="utf-8"?>
<p:tagLst xmlns:p="http://schemas.openxmlformats.org/presentationml/2006/main">
  <p:tag name="KSO_WM_DIAGRAM_VIRTUALLY_FRAME" val="{&quot;height&quot;:367.5,&quot;left&quot;:48,&quot;top&quot;:126,&quot;width&quot;:852}"/>
</p:tagLst>
</file>

<file path=ppt/tags/tag72.xml><?xml version="1.0" encoding="utf-8"?>
<p:tagLst xmlns:p="http://schemas.openxmlformats.org/presentationml/2006/main">
  <p:tag name="KSO_WM_DIAGRAM_VIRTUALLY_FRAME" val="{&quot;height&quot;:367.5,&quot;left&quot;:48,&quot;top&quot;:126,&quot;width&quot;:852}"/>
</p:tagLst>
</file>

<file path=ppt/tags/tag73.xml><?xml version="1.0" encoding="utf-8"?>
<p:tagLst xmlns:p="http://schemas.openxmlformats.org/presentationml/2006/main">
  <p:tag name="KSO_WM_DIAGRAM_VIRTUALLY_FRAME" val="{&quot;height&quot;:367.5,&quot;left&quot;:48,&quot;top&quot;:126,&quot;width&quot;:852}"/>
</p:tagLst>
</file>

<file path=ppt/tags/tag74.xml><?xml version="1.0" encoding="utf-8"?>
<p:tagLst xmlns:p="http://schemas.openxmlformats.org/presentationml/2006/main">
  <p:tag name="KSO_WM_DIAGRAM_VIRTUALLY_FRAME" val="{&quot;height&quot;:367.5,&quot;left&quot;:48,&quot;top&quot;:126,&quot;width&quot;:852}"/>
</p:tagLst>
</file>

<file path=ppt/tags/tag75.xml><?xml version="1.0" encoding="utf-8"?>
<p:tagLst xmlns:p="http://schemas.openxmlformats.org/presentationml/2006/main">
  <p:tag name="KSO_WM_DIAGRAM_VIRTUALLY_FRAME" val="{&quot;height&quot;:367.5,&quot;left&quot;:48,&quot;top&quot;:126,&quot;width&quot;:852}"/>
</p:tagLst>
</file>

<file path=ppt/tags/tag76.xml><?xml version="1.0" encoding="utf-8"?>
<p:tagLst xmlns:p="http://schemas.openxmlformats.org/presentationml/2006/main">
  <p:tag name="KSO_WM_DIAGRAM_VIRTUALLY_FRAME" val="{&quot;height&quot;:367.5,&quot;left&quot;:48,&quot;top&quot;:126,&quot;width&quot;:852}"/>
</p:tagLst>
</file>

<file path=ppt/tags/tag77.xml><?xml version="1.0" encoding="utf-8"?>
<p:tagLst xmlns:p="http://schemas.openxmlformats.org/presentationml/2006/main">
  <p:tag name="KSO_WM_DIAGRAM_VIRTUALLY_FRAME" val="{&quot;height&quot;:367.5,&quot;left&quot;:48,&quot;top&quot;:126,&quot;width&quot;:852}"/>
</p:tagLst>
</file>

<file path=ppt/tags/tag78.xml><?xml version="1.0" encoding="utf-8"?>
<p:tagLst xmlns:p="http://schemas.openxmlformats.org/presentationml/2006/main">
  <p:tag name="KSO_WM_DIAGRAM_VIRTUALLY_FRAME" val="{&quot;height&quot;:367.5,&quot;left&quot;:48,&quot;top&quot;:126,&quot;width&quot;:852}"/>
</p:tagLst>
</file>

<file path=ppt/tags/tag79.xml><?xml version="1.0" encoding="utf-8"?>
<p:tagLst xmlns:p="http://schemas.openxmlformats.org/presentationml/2006/main">
  <p:tag name="KSO_WM_DIAGRAM_VIRTUALLY_FRAME" val="{&quot;height&quot;:367.5,&quot;left&quot;:48,&quot;top&quot;:126,&quot;width&quot;:852}"/>
</p:tagLst>
</file>

<file path=ppt/tags/tag80.xml><?xml version="1.0" encoding="utf-8"?>
<p:tagLst xmlns:p="http://schemas.openxmlformats.org/presentationml/2006/main">
  <p:tag name="KSO_WM_DIAGRAM_VIRTUALLY_FRAME" val="{&quot;height&quot;:367.5,&quot;left&quot;:48,&quot;top&quot;:126,&quot;width&quot;:852}"/>
</p:tagLst>
</file>

<file path=ppt/tags/tag81.xml><?xml version="1.0" encoding="utf-8"?>
<p:tagLst xmlns:p="http://schemas.openxmlformats.org/presentationml/2006/main">
  <p:tag name="KSO_WM_DIAGRAM_VIRTUALLY_FRAME" val="{&quot;height&quot;:367.5,&quot;left&quot;:48,&quot;top&quot;:126,&quot;width&quot;:852}"/>
</p:tagLst>
</file>

<file path=ppt/tags/tag82.xml><?xml version="1.0" encoding="utf-8"?>
<p:tagLst xmlns:p="http://schemas.openxmlformats.org/presentationml/2006/main">
  <p:tag name="KSO_WM_DIAGRAM_VIRTUALLY_FRAME" val="{&quot;height&quot;:367.5,&quot;left&quot;:48,&quot;top&quot;:126,&quot;width&quot;:852}"/>
</p:tagLst>
</file>

<file path=ppt/tags/tag83.xml><?xml version="1.0" encoding="utf-8"?>
<p:tagLst xmlns:p="http://schemas.openxmlformats.org/presentationml/2006/main">
  <p:tag name="KSO_WM_DIAGRAM_VIRTUALLY_FRAME" val="{&quot;height&quot;:367.5,&quot;left&quot;:48,&quot;top&quot;:126,&quot;width&quot;:852}"/>
</p:tagLst>
</file>

<file path=ppt/tags/tag84.xml><?xml version="1.0" encoding="utf-8"?>
<p:tagLst xmlns:p="http://schemas.openxmlformats.org/presentationml/2006/main">
  <p:tag name="KSO_WM_DIAGRAM_VIRTUALLY_FRAME" val="{&quot;height&quot;:367.5,&quot;left&quot;:48,&quot;top&quot;:126,&quot;width&quot;:852}"/>
</p:tagLst>
</file>

<file path=ppt/tags/tag85.xml><?xml version="1.0" encoding="utf-8"?>
<p:tagLst xmlns:p="http://schemas.openxmlformats.org/presentationml/2006/main">
  <p:tag name="KSO_WM_DIAGRAM_VIRTUALLY_FRAME" val="{&quot;height&quot;:367.5,&quot;left&quot;:48,&quot;top&quot;:126,&quot;width&quot;:852}"/>
</p:tagLst>
</file>

<file path=ppt/tags/tag86.xml><?xml version="1.0" encoding="utf-8"?>
<p:tagLst xmlns:p="http://schemas.openxmlformats.org/presentationml/2006/main">
  <p:tag name="KSO_WM_DIAGRAM_VIRTUALLY_FRAME" val="{&quot;height&quot;:367.5,&quot;left&quot;:48,&quot;top&quot;:126,&quot;width&quot;:852}"/>
</p:tagLst>
</file>

<file path=ppt/tags/tag87.xml><?xml version="1.0" encoding="utf-8"?>
<p:tagLst xmlns:p="http://schemas.openxmlformats.org/presentationml/2006/main">
  <p:tag name="KSO_WM_DIAGRAM_VIRTUALLY_FRAME" val="{&quot;height&quot;:367.5,&quot;left&quot;:48,&quot;top&quot;:126,&quot;width&quot;:852}"/>
</p:tagLst>
</file>

<file path=ppt/tags/tag88.xml><?xml version="1.0" encoding="utf-8"?>
<p:tagLst xmlns:p="http://schemas.openxmlformats.org/presentationml/2006/main">
  <p:tag name="KSO_WM_DIAGRAM_VIRTUALLY_FRAME" val="{&quot;height&quot;:367.5,&quot;left&quot;:48,&quot;top&quot;:126,&quot;width&quot;:852}"/>
</p:tagLst>
</file>

<file path=ppt/tags/tag89.xml><?xml version="1.0" encoding="utf-8"?>
<p:tagLst xmlns:p="http://schemas.openxmlformats.org/presentationml/2006/main">
  <p:tag name="KSO_WM_DIAGRAM_VIRTUALLY_FRAME" val="{&quot;height&quot;:367.5,&quot;left&quot;:48,&quot;top&quot;:126,&quot;width&quot;:852}"/>
</p:tagLst>
</file>

<file path=ppt/tags/tag90.xml><?xml version="1.0" encoding="utf-8"?>
<p:tagLst xmlns:p="http://schemas.openxmlformats.org/presentationml/2006/main">
  <p:tag name="KSO_WM_DIAGRAM_VIRTUALLY_FRAME" val="{&quot;height&quot;:367.5,&quot;left&quot;:48,&quot;top&quot;:126,&quot;width&quot;:852}"/>
</p:tagLst>
</file>

<file path=ppt/tags/tag91.xml><?xml version="1.0" encoding="utf-8"?>
<p:tagLst xmlns:p="http://schemas.openxmlformats.org/presentationml/2006/main">
  <p:tag name="KSO_WM_DIAGRAM_VIRTUALLY_FRAME" val="{&quot;height&quot;:367.5,&quot;left&quot;:48,&quot;top&quot;:126,&quot;width&quot;:852}"/>
</p:tagLst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2695</Words>
  <Application>WPS 演示</Application>
  <PresentationFormat>Converted Presentation</PresentationFormat>
  <Paragraphs>448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6" baseType="lpstr">
      <vt:lpstr>Arial</vt:lpstr>
      <vt:lpstr>宋体</vt:lpstr>
      <vt:lpstr>Wingdings</vt:lpstr>
      <vt:lpstr>微软雅黑</vt:lpstr>
      <vt:lpstr>Arial Unicode MS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Jason Zhang</cp:lastModifiedBy>
  <cp:revision>3</cp:revision>
  <dcterms:created xsi:type="dcterms:W3CDTF">2026-08-21T03:30:00Z</dcterms:created>
  <dcterms:modified xsi:type="dcterms:W3CDTF">2026-08-21T09:58:54Z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7903BC30F9F345AF992288A1283DE309_13</vt:lpwstr>
  </property>
</Properties>
</file>